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Team [X]. Our capstone project is a Student Risk Alert System — an academic decision-support system under Topic 08. Following Tutorial 1, today we present our problem discovery: the current process, the pain points, the root cause, and our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case is a university academic-advising programme with two majors — Management Information Systems, and Automation &amp; Informatics. Each advisor supports a cohort of students across many courses. This is a decision-support and analytics problem. Importantly, at this stage we are framing the problem — we are not jumping to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advising works today. Lecturers record component scores in separate Excel files. Grades are submitted to the department only at the end of term. The advisor then manually reviews GPA and CPA. Attendance and LMS activity are tracked separately, if at all. The advisor contacts flagged students ad hoc, and interventions are written in a personal notebook. Everything is manual, fragmented, and end-of-term.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 points stand out. First, late detection — advisors see consolidated results only after failure; we can measure the gap between when a student first shows risk and when they are contacted. Second, single-factor manual analysis — risk is judged on GPA alone; we can count how many at-risk students are missed. Third, no intervention tracking — there is no case history; we can audit how many interventions have any written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the 5 Whys to late detection. Why late? Advisors only see results at term-end. Why? Data lives in separate manual files, compiled late. Why? There is no shared, continuous view. Why? There is no explainable rule to combine indicators, and no alerting. Why? The process was designed around end-of-term reporting, not early warning. So the root cause we can influence is a process and information gap — not simply a lack of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one-sentence problem statement is on the screen. It names the users, the evidence and the impact — and it deliberately avoids describing a solution, as Tutorial 1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validate this, before Tutorial 2 we will interview three advisors, confirm which indicators are actually available during the term, and quantify detection lead time and missed cases from a sample cohort. The key assumption to verify first is whether grades, attendance and LMS data can be accessed during the term — not only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has clear owners for coordination, requirements, design and data, implementation, and testing and documentation — each with a backup and an evidence link. Thank you;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0454335" y="640080"/>
            <a:ext cx="868680" cy="868680"/>
          </a:xfrm>
          <a:prstGeom prst="ellipse">
            <a:avLst/>
          </a:prstGeom>
          <a:solidFill>
            <a:srgbClr val="2E4C7E"/>
          </a:solidFill>
          <a:ln/>
        </p:spPr>
      </p:sp>
      <p:sp>
        <p:nvSpPr>
          <p:cNvPr id="3" name="Text 1"/>
          <p:cNvSpPr/>
          <p:nvPr/>
        </p:nvSpPr>
        <p:spPr>
          <a:xfrm>
            <a:off x="10454335" y="640080"/>
            <a:ext cx="86868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08</a:t>
            </a:r>
            <a:endParaRPr lang="en-US" sz="2000" dirty="0"/>
          </a:p>
        </p:txBody>
      </p:sp>
      <p:sp>
        <p:nvSpPr>
          <p:cNvPr id="4" name="Text 2"/>
          <p:cNvSpPr/>
          <p:nvPr/>
        </p:nvSpPr>
        <p:spPr>
          <a:xfrm>
            <a:off x="548640" y="1371600"/>
            <a:ext cx="8229600" cy="320040"/>
          </a:xfrm>
          <a:prstGeom prst="rect">
            <a:avLst/>
          </a:prstGeom>
          <a:noFill/>
          <a:ln/>
        </p:spPr>
        <p:txBody>
          <a:bodyPr wrap="square" rtlCol="0" anchor="ctr"/>
          <a:lstStyle/>
          <a:p>
            <a:pPr indent="0" marL="0">
              <a:buNone/>
            </a:pPr>
            <a:r>
              <a:rPr lang="en-US" sz="1300" b="1" spc="200" kern="0" dirty="0">
                <a:solidFill>
                  <a:srgbClr val="CFE0F5"/>
                </a:solidFill>
                <a:latin typeface="Calibri" pitchFamily="34" charset="0"/>
                <a:ea typeface="Calibri" pitchFamily="34" charset="-122"/>
                <a:cs typeface="Calibri" pitchFamily="34" charset="-120"/>
              </a:rPr>
              <a:t>INS3282 · CAPSTONE PROJECT II — TUTORIAL 1</a:t>
            </a:r>
            <a:endParaRPr lang="en-US" sz="1300" dirty="0"/>
          </a:p>
        </p:txBody>
      </p:sp>
      <p:sp>
        <p:nvSpPr>
          <p:cNvPr id="5" name="Text 3"/>
          <p:cNvSpPr/>
          <p:nvPr/>
        </p:nvSpPr>
        <p:spPr>
          <a:xfrm>
            <a:off x="548640" y="2148840"/>
            <a:ext cx="10241280" cy="1737360"/>
          </a:xfrm>
          <a:prstGeom prst="rect">
            <a:avLst/>
          </a:prstGeom>
          <a:noFill/>
          <a:ln/>
        </p:spPr>
        <p:txBody>
          <a:bodyPr wrap="square" rtlCol="0" anchor="ctr">
            <a:normAutofit/>
          </a:bodyPr>
          <a:lstStyle/>
          <a:p>
            <a:pPr indent="0" marL="0">
              <a:lnSpc>
                <a:spcPct val="102000"/>
              </a:lnSpc>
              <a:buNone/>
            </a:pPr>
            <a:r>
              <a:rPr lang="en-US" sz="4000" b="1" dirty="0">
                <a:solidFill>
                  <a:srgbClr val="FFFFFF"/>
                </a:solidFill>
                <a:latin typeface="Cambria" pitchFamily="34" charset="0"/>
                <a:ea typeface="Cambria" pitchFamily="34" charset="-122"/>
                <a:cs typeface="Cambria" pitchFamily="34" charset="-120"/>
              </a:rPr>
              <a:t>Student Risk Alert System</a:t>
            </a:r>
            <a:endParaRPr lang="en-US" sz="4000" dirty="0"/>
          </a:p>
        </p:txBody>
      </p:sp>
      <p:sp>
        <p:nvSpPr>
          <p:cNvPr id="6" name="Text 4"/>
          <p:cNvSpPr/>
          <p:nvPr/>
        </p:nvSpPr>
        <p:spPr>
          <a:xfrm>
            <a:off x="548640" y="3977640"/>
            <a:ext cx="9692640" cy="822960"/>
          </a:xfrm>
          <a:prstGeom prst="rect">
            <a:avLst/>
          </a:prstGeom>
          <a:noFill/>
          <a:ln/>
        </p:spPr>
        <p:txBody>
          <a:bodyPr wrap="square" rtlCol="0" anchor="ctr">
            <a:normAutofit/>
          </a:bodyPr>
          <a:lstStyle/>
          <a:p>
            <a:pPr indent="0" marL="0">
              <a:buNone/>
            </a:pPr>
            <a:r>
              <a:rPr lang="en-US" sz="1700" dirty="0">
                <a:solidFill>
                  <a:srgbClr val="CFE0F5"/>
                </a:solidFill>
                <a:latin typeface="Calibri" pitchFamily="34" charset="0"/>
                <a:ea typeface="Calibri" pitchFamily="34" charset="-122"/>
                <a:cs typeface="Calibri" pitchFamily="34" charset="-120"/>
              </a:rPr>
              <a:t>Problem discovery — current process, pain points, root cause, and problem statement</a:t>
            </a:r>
            <a:endParaRPr lang="en-US" sz="1700" dirty="0"/>
          </a:p>
        </p:txBody>
      </p:sp>
      <p:sp>
        <p:nvSpPr>
          <p:cNvPr id="7" name="Text 5"/>
          <p:cNvSpPr/>
          <p:nvPr/>
        </p:nvSpPr>
        <p:spPr>
          <a:xfrm>
            <a:off x="548640" y="4892040"/>
            <a:ext cx="9144000" cy="365760"/>
          </a:xfrm>
          <a:prstGeom prst="rect">
            <a:avLst/>
          </a:prstGeom>
          <a:noFill/>
          <a:ln/>
        </p:spPr>
        <p:txBody>
          <a:bodyPr wrap="square" rtlCol="0" anchor="ctr"/>
          <a:lstStyle/>
          <a:p>
            <a:pPr indent="0" marL="0">
              <a:buNone/>
            </a:pPr>
            <a:r>
              <a:rPr lang="en-US" sz="1400" b="1" dirty="0">
                <a:solidFill>
                  <a:srgbClr val="E9A93A"/>
                </a:solidFill>
                <a:latin typeface="Calibri" pitchFamily="34" charset="0"/>
                <a:ea typeface="Calibri" pitchFamily="34" charset="-122"/>
                <a:cs typeface="Calibri" pitchFamily="34" charset="-120"/>
              </a:rPr>
              <a:t>Topic 08 · Academic Decision Support System</a:t>
            </a:r>
            <a:endParaRPr lang="en-US" sz="1400" dirty="0"/>
          </a:p>
        </p:txBody>
      </p:sp>
      <p:sp>
        <p:nvSpPr>
          <p:cNvPr id="8" name="Text 6"/>
          <p:cNvSpPr/>
          <p:nvPr/>
        </p:nvSpPr>
        <p:spPr>
          <a:xfrm>
            <a:off x="548640" y="5989320"/>
            <a:ext cx="100584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Team [X]  —  [Member 1] · [Member 2] · [Member 3] · [Member 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CONTEXT</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Case and scope</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02</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Text 3"/>
          <p:cNvSpPr/>
          <p:nvPr/>
        </p:nvSpPr>
        <p:spPr>
          <a:xfrm>
            <a:off x="548640" y="1783080"/>
            <a:ext cx="6126480" cy="1097280"/>
          </a:xfrm>
          <a:prstGeom prst="rect">
            <a:avLst/>
          </a:prstGeom>
          <a:noFill/>
          <a:ln/>
        </p:spPr>
        <p:txBody>
          <a:bodyPr wrap="square" rtlCol="0" anchor="ctr">
            <a:normAutofit/>
          </a:bodyPr>
          <a:lstStyle/>
          <a:p>
            <a:pPr indent="0" marL="0">
              <a:lnSpc>
                <a:spcPct val="105000"/>
              </a:lnSpc>
              <a:buNone/>
            </a:pPr>
            <a:r>
              <a:rPr lang="en-US" sz="1500" dirty="0">
                <a:solidFill>
                  <a:srgbClr val="1E2833"/>
                </a:solidFill>
                <a:latin typeface="Calibri" pitchFamily="34" charset="0"/>
                <a:ea typeface="Calibri" pitchFamily="34" charset="-122"/>
                <a:cs typeface="Calibri" pitchFamily="34" charset="-120"/>
              </a:rPr>
              <a:t>A university academic-advising programme. At this stage we frame the problem — not the solution.</a:t>
            </a:r>
            <a:endParaRPr lang="en-US" sz="1500" dirty="0"/>
          </a:p>
        </p:txBody>
      </p:sp>
      <p:sp>
        <p:nvSpPr>
          <p:cNvPr id="6" name="Text 4"/>
          <p:cNvSpPr/>
          <p:nvPr/>
        </p:nvSpPr>
        <p:spPr>
          <a:xfrm>
            <a:off x="548640" y="2971800"/>
            <a:ext cx="6126480" cy="2743200"/>
          </a:xfrm>
          <a:prstGeom prst="rect">
            <a:avLst/>
          </a:prstGeom>
          <a:noFill/>
          <a:ln/>
        </p:spPr>
        <p:txBody>
          <a:bodyPr wrap="square" rtlCol="0" anchor="t">
            <a:normAutofit/>
          </a:bodyPr>
          <a:lstStyle/>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Each advisor supports a cohort of students across many courses</a:t>
            </a:r>
            <a:endParaRPr lang="en-US" sz="1450" dirty="0"/>
          </a:p>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A decision-support and analytics problem (an academic DSS)</a:t>
            </a:r>
            <a:endParaRPr lang="en-US" sz="1450" dirty="0"/>
          </a:p>
          <a:p>
            <a:pPr marL="228600" indent="-228600">
              <a:spcAft>
                <a:spcPts val="1000"/>
              </a:spcAft>
              <a:buSzPct val="100000"/>
              <a:buChar char="•"/>
            </a:pPr>
            <a:r>
              <a:rPr lang="en-US" sz="1450" dirty="0">
                <a:solidFill>
                  <a:srgbClr val="1E2833"/>
                </a:solidFill>
                <a:latin typeface="Calibri" pitchFamily="34" charset="0"/>
                <a:ea typeface="Calibri" pitchFamily="34" charset="-122"/>
                <a:cs typeface="Calibri" pitchFamily="34" charset="-120"/>
              </a:rPr>
              <a:t>Users: advisors, programme managers, lecturers, students</a:t>
            </a:r>
            <a:endParaRPr lang="en-US" sz="1450" dirty="0"/>
          </a:p>
        </p:txBody>
      </p:sp>
      <p:sp>
        <p:nvSpPr>
          <p:cNvPr id="7" name="Shape 5"/>
          <p:cNvSpPr/>
          <p:nvPr/>
        </p:nvSpPr>
        <p:spPr>
          <a:xfrm>
            <a:off x="7040880" y="1783080"/>
            <a:ext cx="4599432" cy="3977640"/>
          </a:xfrm>
          <a:prstGeom prst="roundRect">
            <a:avLst>
              <a:gd name="adj" fmla="val 2069"/>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8" name="Text 6"/>
          <p:cNvSpPr/>
          <p:nvPr/>
        </p:nvSpPr>
        <p:spPr>
          <a:xfrm>
            <a:off x="7315200" y="2057400"/>
            <a:ext cx="4023360" cy="320040"/>
          </a:xfrm>
          <a:prstGeom prst="rect">
            <a:avLst/>
          </a:prstGeom>
          <a:noFill/>
          <a:ln/>
        </p:spPr>
        <p:txBody>
          <a:bodyPr wrap="square" rtlCol="0" anchor="ctr"/>
          <a:lstStyle/>
          <a:p>
            <a:pPr indent="0" marL="0">
              <a:buNone/>
            </a:pPr>
            <a:r>
              <a:rPr lang="en-US" sz="1200" b="1" spc="100" kern="0" dirty="0">
                <a:solidFill>
                  <a:srgbClr val="5B6B7F"/>
                </a:solidFill>
                <a:latin typeface="Calibri" pitchFamily="34" charset="0"/>
                <a:ea typeface="Calibri" pitchFamily="34" charset="-122"/>
                <a:cs typeface="Calibri" pitchFamily="34" charset="-120"/>
              </a:rPr>
              <a:t>TWO MAJORS</a:t>
            </a:r>
            <a:endParaRPr lang="en-US" sz="1200" dirty="0"/>
          </a:p>
        </p:txBody>
      </p:sp>
      <p:sp>
        <p:nvSpPr>
          <p:cNvPr id="9" name="Shape 7"/>
          <p:cNvSpPr/>
          <p:nvPr/>
        </p:nvSpPr>
        <p:spPr>
          <a:xfrm>
            <a:off x="7315200" y="2560320"/>
            <a:ext cx="4050792" cy="1143000"/>
          </a:xfrm>
          <a:prstGeom prst="roundRect">
            <a:avLst>
              <a:gd name="adj" fmla="val 5600"/>
            </a:avLst>
          </a:prstGeom>
          <a:solidFill>
            <a:srgbClr val="1F3864"/>
          </a:solidFill>
          <a:ln/>
        </p:spPr>
      </p:sp>
      <p:sp>
        <p:nvSpPr>
          <p:cNvPr id="10" name="Shape 8"/>
          <p:cNvSpPr/>
          <p:nvPr/>
        </p:nvSpPr>
        <p:spPr>
          <a:xfrm>
            <a:off x="7543800" y="2871216"/>
            <a:ext cx="512064" cy="512064"/>
          </a:xfrm>
          <a:prstGeom prst="ellipse">
            <a:avLst/>
          </a:prstGeom>
          <a:solidFill>
            <a:srgbClr val="FFFFFF"/>
          </a:solidFill>
          <a:ln/>
        </p:spPr>
      </p:sp>
      <p:sp>
        <p:nvSpPr>
          <p:cNvPr id="11" name="Text 9"/>
          <p:cNvSpPr/>
          <p:nvPr/>
        </p:nvSpPr>
        <p:spPr>
          <a:xfrm>
            <a:off x="7543800" y="2871216"/>
            <a:ext cx="512064" cy="512064"/>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8183880" y="2560320"/>
            <a:ext cx="3108960" cy="1143000"/>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Management Information Systems</a:t>
            </a:r>
            <a:endParaRPr lang="en-US" sz="1500" dirty="0"/>
          </a:p>
        </p:txBody>
      </p:sp>
      <p:sp>
        <p:nvSpPr>
          <p:cNvPr id="13" name="Shape 11"/>
          <p:cNvSpPr/>
          <p:nvPr/>
        </p:nvSpPr>
        <p:spPr>
          <a:xfrm>
            <a:off x="7315200" y="3977640"/>
            <a:ext cx="4050792" cy="1143000"/>
          </a:xfrm>
          <a:prstGeom prst="roundRect">
            <a:avLst>
              <a:gd name="adj" fmla="val 5600"/>
            </a:avLst>
          </a:prstGeom>
          <a:solidFill>
            <a:srgbClr val="1F3864"/>
          </a:solidFill>
          <a:ln/>
        </p:spPr>
      </p:sp>
      <p:sp>
        <p:nvSpPr>
          <p:cNvPr id="14" name="Shape 12"/>
          <p:cNvSpPr/>
          <p:nvPr/>
        </p:nvSpPr>
        <p:spPr>
          <a:xfrm>
            <a:off x="7543800" y="4288536"/>
            <a:ext cx="512064" cy="512064"/>
          </a:xfrm>
          <a:prstGeom prst="ellipse">
            <a:avLst/>
          </a:prstGeom>
          <a:solidFill>
            <a:srgbClr val="FFFFFF"/>
          </a:solidFill>
          <a:ln/>
        </p:spPr>
      </p:sp>
      <p:sp>
        <p:nvSpPr>
          <p:cNvPr id="15" name="Text 13"/>
          <p:cNvSpPr/>
          <p:nvPr/>
        </p:nvSpPr>
        <p:spPr>
          <a:xfrm>
            <a:off x="7543800" y="4288536"/>
            <a:ext cx="512064" cy="512064"/>
          </a:xfrm>
          <a:prstGeom prst="rect">
            <a:avLst/>
          </a:prstGeom>
          <a:noFill/>
          <a:ln/>
        </p:spPr>
        <p:txBody>
          <a:bodyPr wrap="square" lIns="0" tIns="0" rIns="0" bIns="0" rtlCol="0" anchor="ctr"/>
          <a:lstStyle/>
          <a:p>
            <a:pPr algn="ctr" indent="0" marL="0">
              <a:buNone/>
            </a:pPr>
            <a:r>
              <a:rPr lang="en-US" sz="1500" b="1" dirty="0">
                <a:solidFill>
                  <a:srgbClr val="1F3864"/>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8183880" y="3977640"/>
            <a:ext cx="3108960" cy="1143000"/>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Automation &amp; Informatics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2</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How advising works today</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03</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6" name="Shape 4"/>
          <p:cNvSpPr/>
          <p:nvPr/>
        </p:nvSpPr>
        <p:spPr>
          <a:xfrm>
            <a:off x="749808" y="1984248"/>
            <a:ext cx="457200" cy="457200"/>
          </a:xfrm>
          <a:prstGeom prst="ellipse">
            <a:avLst/>
          </a:prstGeom>
          <a:solidFill>
            <a:srgbClr val="1F3864"/>
          </a:solidFill>
          <a:ln/>
        </p:spPr>
      </p:sp>
      <p:sp>
        <p:nvSpPr>
          <p:cNvPr id="7" name="Text 5"/>
          <p:cNvSpPr/>
          <p:nvPr/>
        </p:nvSpPr>
        <p:spPr>
          <a:xfrm>
            <a:off x="749808"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25880"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Lecturers record TX / GK / CK scores in separate Excel files</a:t>
            </a:r>
            <a:endParaRPr lang="en-US" sz="1250" dirty="0"/>
          </a:p>
        </p:txBody>
      </p:sp>
      <p:sp>
        <p:nvSpPr>
          <p:cNvPr id="9" name="Shape 7"/>
          <p:cNvSpPr/>
          <p:nvPr/>
        </p:nvSpPr>
        <p:spPr>
          <a:xfrm>
            <a:off x="4353458"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0" name="Shape 8"/>
          <p:cNvSpPr/>
          <p:nvPr/>
        </p:nvSpPr>
        <p:spPr>
          <a:xfrm>
            <a:off x="4554626" y="1984248"/>
            <a:ext cx="457200" cy="457200"/>
          </a:xfrm>
          <a:prstGeom prst="ellipse">
            <a:avLst/>
          </a:prstGeom>
          <a:solidFill>
            <a:srgbClr val="1F3864"/>
          </a:solidFill>
          <a:ln/>
        </p:spPr>
      </p:sp>
      <p:sp>
        <p:nvSpPr>
          <p:cNvPr id="11" name="Text 9"/>
          <p:cNvSpPr/>
          <p:nvPr/>
        </p:nvSpPr>
        <p:spPr>
          <a:xfrm>
            <a:off x="4554626"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30698"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Grades submitted to the department only at end of term</a:t>
            </a:r>
            <a:endParaRPr lang="en-US" sz="1250" dirty="0"/>
          </a:p>
        </p:txBody>
      </p:sp>
      <p:sp>
        <p:nvSpPr>
          <p:cNvPr id="13" name="Shape 11"/>
          <p:cNvSpPr/>
          <p:nvPr/>
        </p:nvSpPr>
        <p:spPr>
          <a:xfrm>
            <a:off x="8158277" y="178308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4" name="Shape 12"/>
          <p:cNvSpPr/>
          <p:nvPr/>
        </p:nvSpPr>
        <p:spPr>
          <a:xfrm>
            <a:off x="8359445" y="1984248"/>
            <a:ext cx="457200" cy="457200"/>
          </a:xfrm>
          <a:prstGeom prst="ellipse">
            <a:avLst/>
          </a:prstGeom>
          <a:solidFill>
            <a:srgbClr val="1F3864"/>
          </a:solidFill>
          <a:ln/>
        </p:spPr>
      </p:sp>
      <p:sp>
        <p:nvSpPr>
          <p:cNvPr id="15" name="Text 13"/>
          <p:cNvSpPr/>
          <p:nvPr/>
        </p:nvSpPr>
        <p:spPr>
          <a:xfrm>
            <a:off x="8359445" y="1984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935517" y="192938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Advisor reviews GPA / CPA manually to spot weak students</a:t>
            </a:r>
            <a:endParaRPr lang="en-US" sz="1250" dirty="0"/>
          </a:p>
        </p:txBody>
      </p:sp>
      <p:sp>
        <p:nvSpPr>
          <p:cNvPr id="17" name="Shape 15"/>
          <p:cNvSpPr/>
          <p:nvPr/>
        </p:nvSpPr>
        <p:spPr>
          <a:xfrm>
            <a:off x="548640"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18" name="Shape 16"/>
          <p:cNvSpPr/>
          <p:nvPr/>
        </p:nvSpPr>
        <p:spPr>
          <a:xfrm>
            <a:off x="749808" y="3721608"/>
            <a:ext cx="457200" cy="457200"/>
          </a:xfrm>
          <a:prstGeom prst="ellipse">
            <a:avLst/>
          </a:prstGeom>
          <a:solidFill>
            <a:srgbClr val="1F3864"/>
          </a:solidFill>
          <a:ln/>
        </p:spPr>
      </p:sp>
      <p:sp>
        <p:nvSpPr>
          <p:cNvPr id="19" name="Text 17"/>
          <p:cNvSpPr/>
          <p:nvPr/>
        </p:nvSpPr>
        <p:spPr>
          <a:xfrm>
            <a:off x="749808"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325880"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Attendance and LMS activity tracked separately — if at all</a:t>
            </a:r>
            <a:endParaRPr lang="en-US" sz="1250" dirty="0"/>
          </a:p>
        </p:txBody>
      </p:sp>
      <p:sp>
        <p:nvSpPr>
          <p:cNvPr id="21" name="Shape 19"/>
          <p:cNvSpPr/>
          <p:nvPr/>
        </p:nvSpPr>
        <p:spPr>
          <a:xfrm>
            <a:off x="4353458"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22" name="Shape 20"/>
          <p:cNvSpPr/>
          <p:nvPr/>
        </p:nvSpPr>
        <p:spPr>
          <a:xfrm>
            <a:off x="4554626" y="3721608"/>
            <a:ext cx="457200" cy="457200"/>
          </a:xfrm>
          <a:prstGeom prst="ellipse">
            <a:avLst/>
          </a:prstGeom>
          <a:solidFill>
            <a:srgbClr val="1F3864"/>
          </a:solidFill>
          <a:ln/>
        </p:spPr>
      </p:sp>
      <p:sp>
        <p:nvSpPr>
          <p:cNvPr id="23" name="Text 21"/>
          <p:cNvSpPr/>
          <p:nvPr/>
        </p:nvSpPr>
        <p:spPr>
          <a:xfrm>
            <a:off x="4554626"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5130698"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Advisor contacts flagged students ad hoc</a:t>
            </a:r>
            <a:endParaRPr lang="en-US" sz="1250" dirty="0"/>
          </a:p>
        </p:txBody>
      </p:sp>
      <p:sp>
        <p:nvSpPr>
          <p:cNvPr id="25" name="Shape 23"/>
          <p:cNvSpPr/>
          <p:nvPr/>
        </p:nvSpPr>
        <p:spPr>
          <a:xfrm>
            <a:off x="8158277" y="3520440"/>
            <a:ext cx="3484778" cy="1481328"/>
          </a:xfrm>
          <a:prstGeom prst="roundRect">
            <a:avLst>
              <a:gd name="adj" fmla="val 4938"/>
            </a:avLst>
          </a:prstGeom>
          <a:solidFill>
            <a:srgbClr val="F3F6FB"/>
          </a:solidFill>
          <a:ln w="12700">
            <a:solidFill>
              <a:srgbClr val="E4EAF3"/>
            </a:solidFill>
            <a:prstDash val="solid"/>
          </a:ln>
          <a:effectLst>
            <a:outerShdw sx="100000" sy="100000" kx="0" ky="0" algn="bl" rotWithShape="0" blurRad="88900" dist="25400" dir="5400000">
              <a:srgbClr val="9FB0C8">
                <a:alpha val="25000"/>
              </a:srgbClr>
            </a:outerShdw>
          </a:effectLst>
        </p:spPr>
      </p:sp>
      <p:sp>
        <p:nvSpPr>
          <p:cNvPr id="26" name="Shape 24"/>
          <p:cNvSpPr/>
          <p:nvPr/>
        </p:nvSpPr>
        <p:spPr>
          <a:xfrm>
            <a:off x="8359445" y="3721608"/>
            <a:ext cx="457200" cy="457200"/>
          </a:xfrm>
          <a:prstGeom prst="ellipse">
            <a:avLst/>
          </a:prstGeom>
          <a:solidFill>
            <a:srgbClr val="1F3864"/>
          </a:solidFill>
          <a:ln/>
        </p:spPr>
      </p:sp>
      <p:sp>
        <p:nvSpPr>
          <p:cNvPr id="27" name="Text 25"/>
          <p:cNvSpPr/>
          <p:nvPr/>
        </p:nvSpPr>
        <p:spPr>
          <a:xfrm>
            <a:off x="8359445"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8935517" y="3666744"/>
            <a:ext cx="2524658" cy="1207008"/>
          </a:xfrm>
          <a:prstGeom prst="rect">
            <a:avLst/>
          </a:prstGeom>
          <a:noFill/>
          <a:ln/>
        </p:spPr>
        <p:txBody>
          <a:bodyPr wrap="square" rtlCol="0" anchor="ctr">
            <a:normAutofit/>
          </a:bodyPr>
          <a:lstStyle/>
          <a:p>
            <a:pPr indent="0" marL="0">
              <a:buNone/>
            </a:pPr>
            <a:r>
              <a:rPr lang="en-US" sz="1250" dirty="0">
                <a:solidFill>
                  <a:srgbClr val="1E2833"/>
                </a:solidFill>
                <a:latin typeface="Calibri" pitchFamily="34" charset="0"/>
                <a:ea typeface="Calibri" pitchFamily="34" charset="-122"/>
                <a:cs typeface="Calibri" pitchFamily="34" charset="-120"/>
              </a:rPr>
              <a:t>Interventions noted in a personal notebook</a:t>
            </a:r>
            <a:endParaRPr lang="en-US" sz="1250" dirty="0"/>
          </a:p>
        </p:txBody>
      </p:sp>
      <p:sp>
        <p:nvSpPr>
          <p:cNvPr id="29" name="Shape 27"/>
          <p:cNvSpPr/>
          <p:nvPr/>
        </p:nvSpPr>
        <p:spPr>
          <a:xfrm>
            <a:off x="548640" y="5440680"/>
            <a:ext cx="11094415" cy="658368"/>
          </a:xfrm>
          <a:prstGeom prst="roundRect">
            <a:avLst>
              <a:gd name="adj" fmla="val 8333"/>
            </a:avLst>
          </a:prstGeom>
          <a:solidFill>
            <a:srgbClr val="FBEFD8"/>
          </a:solidFill>
          <a:ln/>
        </p:spPr>
      </p:sp>
      <p:sp>
        <p:nvSpPr>
          <p:cNvPr id="30" name="Text 28"/>
          <p:cNvSpPr/>
          <p:nvPr/>
        </p:nvSpPr>
        <p:spPr>
          <a:xfrm>
            <a:off x="822960" y="5440680"/>
            <a:ext cx="10545775" cy="658368"/>
          </a:xfrm>
          <a:prstGeom prst="rect">
            <a:avLst/>
          </a:prstGeom>
          <a:noFill/>
          <a:ln/>
        </p:spPr>
        <p:txBody>
          <a:bodyPr wrap="square" rtlCol="0" anchor="ctr"/>
          <a:lstStyle/>
          <a:p>
            <a:pPr indent="0" marL="0">
              <a:buNone/>
            </a:pPr>
            <a:r>
              <a:rPr lang="en-US" sz="1500" b="1" dirty="0">
                <a:solidFill>
                  <a:srgbClr val="8A5A00"/>
                </a:solidFill>
                <a:latin typeface="Calibri" pitchFamily="34" charset="0"/>
                <a:ea typeface="Calibri" pitchFamily="34" charset="-122"/>
                <a:cs typeface="Calibri" pitchFamily="34" charset="-120"/>
              </a:rPr>
              <a:t>Manual  ·  fragmented  ·  end-of-term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2</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Three pain points — with evidence</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04</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6" name="Shape 4"/>
          <p:cNvSpPr/>
          <p:nvPr/>
        </p:nvSpPr>
        <p:spPr>
          <a:xfrm>
            <a:off x="841248" y="2075688"/>
            <a:ext cx="566928" cy="566928"/>
          </a:xfrm>
          <a:prstGeom prst="ellipse">
            <a:avLst/>
          </a:prstGeom>
          <a:solidFill>
            <a:srgbClr val="C77D00"/>
          </a:solidFill>
          <a:ln/>
        </p:spPr>
      </p:sp>
      <p:sp>
        <p:nvSpPr>
          <p:cNvPr id="7" name="Text 5"/>
          <p:cNvSpPr/>
          <p:nvPr/>
        </p:nvSpPr>
        <p:spPr>
          <a:xfrm>
            <a:off x="841248"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41248"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Late detection</a:t>
            </a:r>
            <a:endParaRPr lang="en-US" sz="1800" dirty="0"/>
          </a:p>
        </p:txBody>
      </p:sp>
      <p:sp>
        <p:nvSpPr>
          <p:cNvPr id="9" name="Text 7"/>
          <p:cNvSpPr/>
          <p:nvPr/>
        </p:nvSpPr>
        <p:spPr>
          <a:xfrm>
            <a:off x="841248"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Evidence: gap between risk onset and first advisor contact</a:t>
            </a:r>
            <a:endParaRPr lang="en-US" sz="1250" dirty="0"/>
          </a:p>
        </p:txBody>
      </p:sp>
      <p:sp>
        <p:nvSpPr>
          <p:cNvPr id="10" name="Shape 8"/>
          <p:cNvSpPr/>
          <p:nvPr/>
        </p:nvSpPr>
        <p:spPr>
          <a:xfrm>
            <a:off x="4368698"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11" name="Shape 9"/>
          <p:cNvSpPr/>
          <p:nvPr/>
        </p:nvSpPr>
        <p:spPr>
          <a:xfrm>
            <a:off x="4661306" y="2075688"/>
            <a:ext cx="566928" cy="566928"/>
          </a:xfrm>
          <a:prstGeom prst="ellipse">
            <a:avLst/>
          </a:prstGeom>
          <a:solidFill>
            <a:srgbClr val="C77D00"/>
          </a:solidFill>
          <a:ln/>
        </p:spPr>
      </p:sp>
      <p:sp>
        <p:nvSpPr>
          <p:cNvPr id="12" name="Text 10"/>
          <p:cNvSpPr/>
          <p:nvPr/>
        </p:nvSpPr>
        <p:spPr>
          <a:xfrm>
            <a:off x="4661306"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661306"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Single-factor manual analysis</a:t>
            </a:r>
            <a:endParaRPr lang="en-US" sz="1800" dirty="0"/>
          </a:p>
        </p:txBody>
      </p:sp>
      <p:sp>
        <p:nvSpPr>
          <p:cNvPr id="14" name="Text 12"/>
          <p:cNvSpPr/>
          <p:nvPr/>
        </p:nvSpPr>
        <p:spPr>
          <a:xfrm>
            <a:off x="4661306"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Evidence: at-risk students missed when judging on GPA alone</a:t>
            </a:r>
            <a:endParaRPr lang="en-US" sz="1250" dirty="0"/>
          </a:p>
        </p:txBody>
      </p:sp>
      <p:sp>
        <p:nvSpPr>
          <p:cNvPr id="15" name="Shape 13"/>
          <p:cNvSpPr/>
          <p:nvPr/>
        </p:nvSpPr>
        <p:spPr>
          <a:xfrm>
            <a:off x="8188757" y="1783080"/>
            <a:ext cx="3454298" cy="3246120"/>
          </a:xfrm>
          <a:prstGeom prst="roundRect">
            <a:avLst>
              <a:gd name="adj" fmla="val 2254"/>
            </a:avLst>
          </a:prstGeom>
          <a:solidFill>
            <a:srgbClr val="F3F6FB"/>
          </a:solidFill>
          <a:ln w="12700">
            <a:solidFill>
              <a:srgbClr val="E4EAF3"/>
            </a:solidFill>
            <a:prstDash val="solid"/>
          </a:ln>
          <a:effectLst>
            <a:outerShdw sx="100000" sy="100000" kx="0" ky="0" algn="bl" rotWithShape="0" blurRad="101600" dist="25400" dir="5400000">
              <a:srgbClr val="9FB0C8">
                <a:alpha val="28000"/>
              </a:srgbClr>
            </a:outerShdw>
          </a:effectLst>
        </p:spPr>
      </p:sp>
      <p:sp>
        <p:nvSpPr>
          <p:cNvPr id="16" name="Shape 14"/>
          <p:cNvSpPr/>
          <p:nvPr/>
        </p:nvSpPr>
        <p:spPr>
          <a:xfrm>
            <a:off x="8481365" y="2075688"/>
            <a:ext cx="566928" cy="566928"/>
          </a:xfrm>
          <a:prstGeom prst="ellipse">
            <a:avLst/>
          </a:prstGeom>
          <a:solidFill>
            <a:srgbClr val="C77D00"/>
          </a:solidFill>
          <a:ln/>
        </p:spPr>
      </p:sp>
      <p:sp>
        <p:nvSpPr>
          <p:cNvPr id="17" name="Text 15"/>
          <p:cNvSpPr/>
          <p:nvPr/>
        </p:nvSpPr>
        <p:spPr>
          <a:xfrm>
            <a:off x="8481365" y="207568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8481365" y="2834640"/>
            <a:ext cx="2869082" cy="868680"/>
          </a:xfrm>
          <a:prstGeom prst="rect">
            <a:avLst/>
          </a:prstGeom>
          <a:noFill/>
          <a:ln/>
        </p:spPr>
        <p:txBody>
          <a:bodyPr wrap="square" rtlCol="0" anchor="t">
            <a:normAutofit/>
          </a:bodyPr>
          <a:lstStyle/>
          <a:p>
            <a:pPr indent="0" marL="0">
              <a:buNone/>
            </a:pPr>
            <a:r>
              <a:rPr lang="en-US" sz="1800" b="1" dirty="0">
                <a:solidFill>
                  <a:srgbClr val="1F3864"/>
                </a:solidFill>
                <a:latin typeface="Cambria" pitchFamily="34" charset="0"/>
                <a:ea typeface="Cambria" pitchFamily="34" charset="-122"/>
                <a:cs typeface="Cambria" pitchFamily="34" charset="-120"/>
              </a:rPr>
              <a:t>No intervention tracking</a:t>
            </a:r>
            <a:endParaRPr lang="en-US" sz="1800" dirty="0"/>
          </a:p>
        </p:txBody>
      </p:sp>
      <p:sp>
        <p:nvSpPr>
          <p:cNvPr id="19" name="Text 17"/>
          <p:cNvSpPr/>
          <p:nvPr/>
        </p:nvSpPr>
        <p:spPr>
          <a:xfrm>
            <a:off x="8481365" y="3703320"/>
            <a:ext cx="2869082" cy="1143000"/>
          </a:xfrm>
          <a:prstGeom prst="rect">
            <a:avLst/>
          </a:prstGeom>
          <a:noFill/>
          <a:ln/>
        </p:spPr>
        <p:txBody>
          <a:bodyPr wrap="square" rtlCol="0" anchor="t">
            <a:normAutofit/>
          </a:bodyPr>
          <a:lstStyle/>
          <a:p>
            <a:pPr indent="0" marL="0">
              <a:lnSpc>
                <a:spcPct val="105000"/>
              </a:lnSpc>
              <a:buNone/>
            </a:pPr>
            <a:r>
              <a:rPr lang="en-US" sz="1250" dirty="0">
                <a:solidFill>
                  <a:srgbClr val="5B6B7F"/>
                </a:solidFill>
                <a:latin typeface="Calibri" pitchFamily="34" charset="0"/>
                <a:ea typeface="Calibri" pitchFamily="34" charset="-122"/>
                <a:cs typeface="Calibri" pitchFamily="34" charset="-120"/>
              </a:rPr>
              <a:t>Evidence: share of interventions with any written follow-up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ACTIVITY 3</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Root cause — 5 Whys</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05</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737360"/>
            <a:ext cx="457200" cy="457200"/>
          </a:xfrm>
          <a:prstGeom prst="ellipse">
            <a:avLst/>
          </a:prstGeom>
          <a:solidFill>
            <a:srgbClr val="1F3864"/>
          </a:solidFill>
          <a:ln/>
        </p:spPr>
      </p:sp>
      <p:sp>
        <p:nvSpPr>
          <p:cNvPr id="6" name="Text 4"/>
          <p:cNvSpPr/>
          <p:nvPr/>
        </p:nvSpPr>
        <p:spPr>
          <a:xfrm>
            <a:off x="548640"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737360"/>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Why identified late?  →  Advisors only see results at term-end</a:t>
            </a:r>
            <a:endParaRPr lang="en-US" sz="1400" dirty="0"/>
          </a:p>
        </p:txBody>
      </p:sp>
      <p:sp>
        <p:nvSpPr>
          <p:cNvPr id="8" name="Shape 6"/>
          <p:cNvSpPr/>
          <p:nvPr/>
        </p:nvSpPr>
        <p:spPr>
          <a:xfrm>
            <a:off x="548640" y="2395728"/>
            <a:ext cx="457200" cy="457200"/>
          </a:xfrm>
          <a:prstGeom prst="ellipse">
            <a:avLst/>
          </a:prstGeom>
          <a:solidFill>
            <a:srgbClr val="1F3864"/>
          </a:solidFill>
          <a:ln/>
        </p:spPr>
      </p:sp>
      <p:sp>
        <p:nvSpPr>
          <p:cNvPr id="9" name="Text 7"/>
          <p:cNvSpPr/>
          <p:nvPr/>
        </p:nvSpPr>
        <p:spPr>
          <a:xfrm>
            <a:off x="548640" y="23957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88720" y="2395728"/>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Why?  →  Grades, attendance, LMS in separate manual files, compiled late</a:t>
            </a:r>
            <a:endParaRPr lang="en-US" sz="1400" dirty="0"/>
          </a:p>
        </p:txBody>
      </p:sp>
      <p:sp>
        <p:nvSpPr>
          <p:cNvPr id="11" name="Shape 9"/>
          <p:cNvSpPr/>
          <p:nvPr/>
        </p:nvSpPr>
        <p:spPr>
          <a:xfrm>
            <a:off x="548640" y="3054096"/>
            <a:ext cx="457200" cy="457200"/>
          </a:xfrm>
          <a:prstGeom prst="ellipse">
            <a:avLst/>
          </a:prstGeom>
          <a:solidFill>
            <a:srgbClr val="1F3864"/>
          </a:solidFill>
          <a:ln/>
        </p:spPr>
      </p:sp>
      <p:sp>
        <p:nvSpPr>
          <p:cNvPr id="12" name="Text 10"/>
          <p:cNvSpPr/>
          <p:nvPr/>
        </p:nvSpPr>
        <p:spPr>
          <a:xfrm>
            <a:off x="5486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3054096"/>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Why?  →  No shared, continuously updated view</a:t>
            </a:r>
            <a:endParaRPr lang="en-US" sz="1400" dirty="0"/>
          </a:p>
        </p:txBody>
      </p:sp>
      <p:sp>
        <p:nvSpPr>
          <p:cNvPr id="14" name="Shape 12"/>
          <p:cNvSpPr/>
          <p:nvPr/>
        </p:nvSpPr>
        <p:spPr>
          <a:xfrm>
            <a:off x="548640" y="3712464"/>
            <a:ext cx="457200" cy="457200"/>
          </a:xfrm>
          <a:prstGeom prst="ellipse">
            <a:avLst/>
          </a:prstGeom>
          <a:solidFill>
            <a:srgbClr val="1F3864"/>
          </a:solidFill>
          <a:ln/>
        </p:spPr>
      </p:sp>
      <p:sp>
        <p:nvSpPr>
          <p:cNvPr id="15" name="Text 13"/>
          <p:cNvSpPr/>
          <p:nvPr/>
        </p:nvSpPr>
        <p:spPr>
          <a:xfrm>
            <a:off x="548640" y="37124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88720" y="3712464"/>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Why?  →  No explainable rule to combine indicators; no alerting</a:t>
            </a:r>
            <a:endParaRPr lang="en-US" sz="1400" dirty="0"/>
          </a:p>
        </p:txBody>
      </p:sp>
      <p:sp>
        <p:nvSpPr>
          <p:cNvPr id="17" name="Shape 15"/>
          <p:cNvSpPr/>
          <p:nvPr/>
        </p:nvSpPr>
        <p:spPr>
          <a:xfrm>
            <a:off x="548640" y="4370832"/>
            <a:ext cx="457200" cy="457200"/>
          </a:xfrm>
          <a:prstGeom prst="ellipse">
            <a:avLst/>
          </a:prstGeom>
          <a:solidFill>
            <a:srgbClr val="C77D00"/>
          </a:solidFill>
          <a:ln/>
        </p:spPr>
      </p:sp>
      <p:sp>
        <p:nvSpPr>
          <p:cNvPr id="18" name="Text 16"/>
          <p:cNvSpPr/>
          <p:nvPr/>
        </p:nvSpPr>
        <p:spPr>
          <a:xfrm>
            <a:off x="548640" y="4370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188720" y="4370832"/>
            <a:ext cx="10454335" cy="50292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Why?  →  Process built for end-of-term reporting, not early warning</a:t>
            </a:r>
            <a:endParaRPr lang="en-US" sz="1400" dirty="0"/>
          </a:p>
        </p:txBody>
      </p:sp>
      <p:sp>
        <p:nvSpPr>
          <p:cNvPr id="20" name="Shape 18"/>
          <p:cNvSpPr/>
          <p:nvPr/>
        </p:nvSpPr>
        <p:spPr>
          <a:xfrm>
            <a:off x="548640" y="5230368"/>
            <a:ext cx="11094415" cy="896112"/>
          </a:xfrm>
          <a:prstGeom prst="roundRect">
            <a:avLst>
              <a:gd name="adj" fmla="val 8163"/>
            </a:avLst>
          </a:prstGeom>
          <a:solidFill>
            <a:srgbClr val="1F3864"/>
          </a:solidFill>
          <a:ln/>
        </p:spPr>
      </p:sp>
      <p:sp>
        <p:nvSpPr>
          <p:cNvPr id="21" name="Text 19"/>
          <p:cNvSpPr/>
          <p:nvPr/>
        </p:nvSpPr>
        <p:spPr>
          <a:xfrm>
            <a:off x="868680" y="5230368"/>
            <a:ext cx="10454335" cy="896112"/>
          </a:xfrm>
          <a:prstGeom prst="rect">
            <a:avLst/>
          </a:prstGeom>
          <a:noFill/>
          <a:ln/>
        </p:spPr>
        <p:txBody>
          <a:bodyPr wrap="square"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Root cause: a process and information gap — not simply “a lack of software”.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548640" y="822960"/>
            <a:ext cx="11094415" cy="365760"/>
          </a:xfrm>
          <a:prstGeom prst="rect">
            <a:avLst/>
          </a:prstGeom>
          <a:noFill/>
          <a:ln/>
        </p:spPr>
        <p:txBody>
          <a:bodyPr wrap="square" rtlCol="0" anchor="ctr"/>
          <a:lstStyle/>
          <a:p>
            <a:pPr indent="0" marL="0">
              <a:buNone/>
            </a:pPr>
            <a:r>
              <a:rPr lang="en-US" sz="1300" b="1" spc="200" kern="0" dirty="0">
                <a:solidFill>
                  <a:srgbClr val="E9A93A"/>
                </a:solidFill>
                <a:latin typeface="Calibri" pitchFamily="34" charset="0"/>
                <a:ea typeface="Calibri" pitchFamily="34" charset="-122"/>
                <a:cs typeface="Calibri" pitchFamily="34" charset="-120"/>
              </a:rPr>
              <a:t>ACTIVITY 3 · PROBLEM STATEMENT</a:t>
            </a:r>
            <a:endParaRPr lang="en-US" sz="1300" dirty="0"/>
          </a:p>
        </p:txBody>
      </p:sp>
      <p:sp>
        <p:nvSpPr>
          <p:cNvPr id="3" name="Text 1"/>
          <p:cNvSpPr/>
          <p:nvPr/>
        </p:nvSpPr>
        <p:spPr>
          <a:xfrm>
            <a:off x="502920" y="1051560"/>
            <a:ext cx="1280160" cy="914400"/>
          </a:xfrm>
          <a:prstGeom prst="rect">
            <a:avLst/>
          </a:prstGeom>
          <a:noFill/>
          <a:ln/>
        </p:spPr>
        <p:txBody>
          <a:bodyPr wrap="square" rtlCol="0" anchor="t"/>
          <a:lstStyle/>
          <a:p>
            <a:pPr indent="0" marL="0">
              <a:buNone/>
            </a:pPr>
            <a:r>
              <a:rPr lang="en-US" sz="5400" dirty="0">
                <a:solidFill>
                  <a:srgbClr val="2E4C7E"/>
                </a:solidFill>
                <a:latin typeface="Cambria" pitchFamily="34" charset="0"/>
                <a:ea typeface="Cambria" pitchFamily="34" charset="-122"/>
                <a:cs typeface="Cambria" pitchFamily="34" charset="-120"/>
              </a:rPr>
              <a:t>“</a:t>
            </a:r>
            <a:endParaRPr lang="en-US" sz="5400" dirty="0"/>
          </a:p>
        </p:txBody>
      </p:sp>
      <p:sp>
        <p:nvSpPr>
          <p:cNvPr id="4" name="Text 2"/>
          <p:cNvSpPr/>
          <p:nvPr/>
        </p:nvSpPr>
        <p:spPr>
          <a:xfrm>
            <a:off x="548640" y="2194560"/>
            <a:ext cx="11094415" cy="3063240"/>
          </a:xfrm>
          <a:prstGeom prst="rect">
            <a:avLst/>
          </a:prstGeom>
          <a:noFill/>
          <a:ln/>
        </p:spPr>
        <p:txBody>
          <a:bodyPr wrap="square" rtlCol="0" anchor="t">
            <a:normAutofit/>
          </a:bodyPr>
          <a:lstStyle/>
          <a:p>
            <a:pPr indent="0" marL="0">
              <a:lnSpc>
                <a:spcPct val="112000"/>
              </a:lnSpc>
              <a:buNone/>
            </a:pPr>
            <a:r>
              <a:rPr lang="en-US" sz="2500" dirty="0">
                <a:solidFill>
                  <a:srgbClr val="FFFFFF"/>
                </a:solidFill>
                <a:latin typeface="Cambria" pitchFamily="34" charset="0"/>
                <a:ea typeface="Cambria" pitchFamily="34" charset="-122"/>
                <a:cs typeface="Cambria" pitchFamily="34" charset="-120"/>
              </a:rPr>
              <a:t>In our university’s academic-advising programme, at-risk students are identified only after end-of-term failure because grade, attendance and LMS indicators are scattered across manual files and reviewed too late — leading to missed early interventions, avoidable course failures and lower retention.</a:t>
            </a:r>
            <a:endParaRPr lang="en-US" sz="2500" dirty="0"/>
          </a:p>
        </p:txBody>
      </p:sp>
      <p:sp>
        <p:nvSpPr>
          <p:cNvPr id="5" name="Text 3"/>
          <p:cNvSpPr/>
          <p:nvPr/>
        </p:nvSpPr>
        <p:spPr>
          <a:xfrm>
            <a:off x="548640" y="5440680"/>
            <a:ext cx="11094415" cy="731520"/>
          </a:xfrm>
          <a:prstGeom prst="rect">
            <a:avLst/>
          </a:prstGeom>
          <a:noFill/>
          <a:ln/>
        </p:spPr>
        <p:txBody>
          <a:bodyPr wrap="square" rtlCol="0" anchor="ctr">
            <a:normAutofit/>
          </a:bodyPr>
          <a:lstStyle/>
          <a:p>
            <a:pPr indent="0" marL="0">
              <a:buNone/>
            </a:pPr>
            <a:r>
              <a:rPr lang="en-US" sz="1500" i="1" dirty="0">
                <a:solidFill>
                  <a:srgbClr val="CFE0F5"/>
                </a:solidFill>
                <a:latin typeface="Calibri" pitchFamily="34" charset="0"/>
                <a:ea typeface="Calibri" pitchFamily="34" charset="-122"/>
                <a:cs typeface="Calibri" pitchFamily="34" charset="-120"/>
              </a:rPr>
              <a:t>Names the users, the evidence and the impact — and avoids solution wording.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274320"/>
          </a:xfrm>
          <a:prstGeom prst="rect">
            <a:avLst/>
          </a:prstGeom>
          <a:noFill/>
          <a:ln/>
        </p:spPr>
        <p:txBody>
          <a:bodyPr wrap="square" rtlCol="0" anchor="ctr"/>
          <a:lstStyle/>
          <a:p>
            <a:pPr indent="0" marL="0">
              <a:buNone/>
            </a:pPr>
            <a:r>
              <a:rPr lang="en-US" sz="1200" b="1" spc="200" kern="0" dirty="0">
                <a:solidFill>
                  <a:srgbClr val="C77D00"/>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548640" y="676656"/>
            <a:ext cx="11094415" cy="777240"/>
          </a:xfrm>
          <a:prstGeom prst="rect">
            <a:avLst/>
          </a:prstGeom>
          <a:noFill/>
          <a:ln/>
        </p:spPr>
        <p:txBody>
          <a:bodyPr wrap="square" rtlCol="0" anchor="ctr">
            <a:normAutofit/>
          </a:bodyPr>
          <a:lstStyle/>
          <a:p>
            <a:pPr indent="0" marL="0">
              <a:buNone/>
            </a:pPr>
            <a:r>
              <a:rPr lang="en-US" sz="2900" b="1" dirty="0">
                <a:solidFill>
                  <a:srgbClr val="1F3864"/>
                </a:solidFill>
                <a:latin typeface="Cambria" pitchFamily="34" charset="0"/>
                <a:ea typeface="Cambria" pitchFamily="34" charset="-122"/>
                <a:cs typeface="Cambria" pitchFamily="34" charset="-120"/>
              </a:rPr>
              <a:t>Evidence plan — before Tutorial 2</a:t>
            </a:r>
            <a:endParaRPr lang="en-US" sz="2900" dirty="0"/>
          </a:p>
        </p:txBody>
      </p:sp>
      <p:sp>
        <p:nvSpPr>
          <p:cNvPr id="4" name="Text 2"/>
          <p:cNvSpPr/>
          <p:nvPr/>
        </p:nvSpPr>
        <p:spPr>
          <a:xfrm>
            <a:off x="10637215" y="6355080"/>
            <a:ext cx="1097280" cy="274320"/>
          </a:xfrm>
          <a:prstGeom prst="rect">
            <a:avLst/>
          </a:prstGeom>
          <a:noFill/>
          <a:ln/>
        </p:spPr>
        <p:txBody>
          <a:bodyPr wrap="square" rtlCol="0" anchor="ctr"/>
          <a:lstStyle/>
          <a:p>
            <a:pPr algn="r" indent="0" marL="0">
              <a:buNone/>
            </a:pPr>
            <a:r>
              <a:rPr lang="en-US" sz="1000" b="1" dirty="0">
                <a:solidFill>
                  <a:srgbClr val="1F3864"/>
                </a:solidFill>
                <a:latin typeface="Calibri" pitchFamily="34" charset="0"/>
                <a:ea typeface="Calibri" pitchFamily="34" charset="-122"/>
                <a:cs typeface="Calibri" pitchFamily="34" charset="-120"/>
              </a:rPr>
              <a:t>07</a:t>
            </a:r>
            <a:pPr algn="r" indent="0" marL="0">
              <a:buNone/>
            </a:pPr>
            <a:r>
              <a:rPr lang="en-US" sz="1000" dirty="0">
                <a:solidFill>
                  <a:srgbClr val="5B6B7F"/>
                </a:solidFill>
                <a:latin typeface="Calibri" pitchFamily="34" charset="0"/>
                <a:ea typeface="Calibri" pitchFamily="34" charset="-122"/>
                <a:cs typeface="Calibri" pitchFamily="34" charset="-120"/>
              </a:rPr>
              <a:t>  /  08</a:t>
            </a:r>
            <a:endParaRPr lang="en-US" sz="1000" dirty="0"/>
          </a:p>
        </p:txBody>
      </p:sp>
      <p:sp>
        <p:nvSpPr>
          <p:cNvPr id="5" name="Shape 3"/>
          <p:cNvSpPr/>
          <p:nvPr/>
        </p:nvSpPr>
        <p:spPr>
          <a:xfrm>
            <a:off x="548640" y="1874520"/>
            <a:ext cx="6263640" cy="868680"/>
          </a:xfrm>
          <a:prstGeom prst="roundRect">
            <a:avLst>
              <a:gd name="adj" fmla="val 7368"/>
            </a:avLst>
          </a:prstGeom>
          <a:solidFill>
            <a:srgbClr val="F3F6FB"/>
          </a:solidFill>
          <a:ln w="12700">
            <a:solidFill>
              <a:srgbClr val="E4EAF3"/>
            </a:solidFill>
            <a:prstDash val="solid"/>
          </a:ln>
        </p:spPr>
      </p:sp>
      <p:sp>
        <p:nvSpPr>
          <p:cNvPr id="6" name="Shape 4"/>
          <p:cNvSpPr/>
          <p:nvPr/>
        </p:nvSpPr>
        <p:spPr>
          <a:xfrm>
            <a:off x="749808" y="2075688"/>
            <a:ext cx="457200" cy="457200"/>
          </a:xfrm>
          <a:prstGeom prst="ellipse">
            <a:avLst/>
          </a:prstGeom>
          <a:solidFill>
            <a:srgbClr val="1F3864"/>
          </a:solidFill>
          <a:ln/>
        </p:spPr>
      </p:sp>
      <p:sp>
        <p:nvSpPr>
          <p:cNvPr id="7" name="Text 5"/>
          <p:cNvSpPr/>
          <p:nvPr/>
        </p:nvSpPr>
        <p:spPr>
          <a:xfrm>
            <a:off x="749808" y="2075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25880" y="187452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Interview three academic advisors</a:t>
            </a:r>
            <a:endParaRPr lang="en-US" sz="1400" dirty="0"/>
          </a:p>
        </p:txBody>
      </p:sp>
      <p:sp>
        <p:nvSpPr>
          <p:cNvPr id="9" name="Shape 7"/>
          <p:cNvSpPr/>
          <p:nvPr/>
        </p:nvSpPr>
        <p:spPr>
          <a:xfrm>
            <a:off x="548640" y="2926080"/>
            <a:ext cx="6263640" cy="868680"/>
          </a:xfrm>
          <a:prstGeom prst="roundRect">
            <a:avLst>
              <a:gd name="adj" fmla="val 7368"/>
            </a:avLst>
          </a:prstGeom>
          <a:solidFill>
            <a:srgbClr val="F3F6FB"/>
          </a:solidFill>
          <a:ln w="12700">
            <a:solidFill>
              <a:srgbClr val="E4EAF3"/>
            </a:solidFill>
            <a:prstDash val="solid"/>
          </a:ln>
        </p:spPr>
      </p:sp>
      <p:sp>
        <p:nvSpPr>
          <p:cNvPr id="10" name="Shape 8"/>
          <p:cNvSpPr/>
          <p:nvPr/>
        </p:nvSpPr>
        <p:spPr>
          <a:xfrm>
            <a:off x="749808" y="3127248"/>
            <a:ext cx="457200" cy="457200"/>
          </a:xfrm>
          <a:prstGeom prst="ellipse">
            <a:avLst/>
          </a:prstGeom>
          <a:solidFill>
            <a:srgbClr val="1F3864"/>
          </a:solidFill>
          <a:ln/>
        </p:spPr>
      </p:sp>
      <p:sp>
        <p:nvSpPr>
          <p:cNvPr id="11" name="Text 9"/>
          <p:cNvSpPr/>
          <p:nvPr/>
        </p:nvSpPr>
        <p:spPr>
          <a:xfrm>
            <a:off x="749808"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325880" y="292608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Confirm which indicators are available during the term</a:t>
            </a:r>
            <a:endParaRPr lang="en-US" sz="1400" dirty="0"/>
          </a:p>
        </p:txBody>
      </p:sp>
      <p:sp>
        <p:nvSpPr>
          <p:cNvPr id="13" name="Shape 11"/>
          <p:cNvSpPr/>
          <p:nvPr/>
        </p:nvSpPr>
        <p:spPr>
          <a:xfrm>
            <a:off x="548640" y="3977640"/>
            <a:ext cx="6263640" cy="868680"/>
          </a:xfrm>
          <a:prstGeom prst="roundRect">
            <a:avLst>
              <a:gd name="adj" fmla="val 7368"/>
            </a:avLst>
          </a:prstGeom>
          <a:solidFill>
            <a:srgbClr val="F3F6FB"/>
          </a:solidFill>
          <a:ln w="12700">
            <a:solidFill>
              <a:srgbClr val="E4EAF3"/>
            </a:solidFill>
            <a:prstDash val="solid"/>
          </a:ln>
        </p:spPr>
      </p:sp>
      <p:sp>
        <p:nvSpPr>
          <p:cNvPr id="14" name="Shape 12"/>
          <p:cNvSpPr/>
          <p:nvPr/>
        </p:nvSpPr>
        <p:spPr>
          <a:xfrm>
            <a:off x="749808" y="4178808"/>
            <a:ext cx="457200" cy="457200"/>
          </a:xfrm>
          <a:prstGeom prst="ellipse">
            <a:avLst/>
          </a:prstGeom>
          <a:solidFill>
            <a:srgbClr val="1F3864"/>
          </a:solidFill>
          <a:ln/>
        </p:spPr>
      </p:sp>
      <p:sp>
        <p:nvSpPr>
          <p:cNvPr id="15" name="Text 13"/>
          <p:cNvSpPr/>
          <p:nvPr/>
        </p:nvSpPr>
        <p:spPr>
          <a:xfrm>
            <a:off x="749808" y="41788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325880" y="3977640"/>
            <a:ext cx="5349240" cy="868680"/>
          </a:xfrm>
          <a:prstGeom prst="rect">
            <a:avLst/>
          </a:prstGeom>
          <a:noFill/>
          <a:ln/>
        </p:spPr>
        <p:txBody>
          <a:bodyPr wrap="square" rtlCol="0" anchor="ctr">
            <a:normAutofit/>
          </a:bodyPr>
          <a:lstStyle/>
          <a:p>
            <a:pPr indent="0" marL="0">
              <a:buNone/>
            </a:pPr>
            <a:r>
              <a:rPr lang="en-US" sz="1400" dirty="0">
                <a:solidFill>
                  <a:srgbClr val="1E2833"/>
                </a:solidFill>
                <a:latin typeface="Calibri" pitchFamily="34" charset="0"/>
                <a:ea typeface="Calibri" pitchFamily="34" charset="-122"/>
                <a:cs typeface="Calibri" pitchFamily="34" charset="-120"/>
              </a:rPr>
              <a:t>Quantify detection lead time and missed cases (sample cohort)</a:t>
            </a:r>
            <a:endParaRPr lang="en-US" sz="1400" dirty="0"/>
          </a:p>
        </p:txBody>
      </p:sp>
      <p:sp>
        <p:nvSpPr>
          <p:cNvPr id="17" name="Shape 15"/>
          <p:cNvSpPr/>
          <p:nvPr/>
        </p:nvSpPr>
        <p:spPr>
          <a:xfrm>
            <a:off x="7178040" y="1874520"/>
            <a:ext cx="4462272" cy="3703320"/>
          </a:xfrm>
          <a:prstGeom prst="roundRect">
            <a:avLst>
              <a:gd name="adj" fmla="val 2222"/>
            </a:avLst>
          </a:prstGeom>
          <a:solidFill>
            <a:srgbClr val="FBEFD8"/>
          </a:solidFill>
          <a:ln/>
          <a:effectLst>
            <a:outerShdw sx="100000" sy="100000" kx="0" ky="0" algn="bl" rotWithShape="0" blurRad="101600" dist="25400" dir="5400000">
              <a:srgbClr val="D9C08A">
                <a:alpha val="30000"/>
              </a:srgbClr>
            </a:outerShdw>
          </a:effectLst>
        </p:spPr>
      </p:sp>
      <p:sp>
        <p:nvSpPr>
          <p:cNvPr id="18" name="Text 16"/>
          <p:cNvSpPr/>
          <p:nvPr/>
        </p:nvSpPr>
        <p:spPr>
          <a:xfrm>
            <a:off x="7452360" y="2194560"/>
            <a:ext cx="3931920" cy="457200"/>
          </a:xfrm>
          <a:prstGeom prst="rect">
            <a:avLst/>
          </a:prstGeom>
          <a:noFill/>
          <a:ln/>
        </p:spPr>
        <p:txBody>
          <a:bodyPr wrap="square" rtlCol="0" anchor="ctr"/>
          <a:lstStyle/>
          <a:p>
            <a:pPr indent="0" marL="0">
              <a:buNone/>
            </a:pPr>
            <a:r>
              <a:rPr lang="en-US" sz="1300" b="1" spc="100" kern="0" dirty="0">
                <a:solidFill>
                  <a:srgbClr val="8A5A00"/>
                </a:solidFill>
                <a:latin typeface="Calibri" pitchFamily="34" charset="0"/>
                <a:ea typeface="Calibri" pitchFamily="34" charset="-122"/>
                <a:cs typeface="Calibri" pitchFamily="34" charset="-120"/>
              </a:rPr>
              <a:t>ASSUMPTION TO VERIFY FIRST</a:t>
            </a:r>
            <a:endParaRPr lang="en-US" sz="1300" dirty="0"/>
          </a:p>
        </p:txBody>
      </p:sp>
      <p:sp>
        <p:nvSpPr>
          <p:cNvPr id="19" name="Text 17"/>
          <p:cNvSpPr/>
          <p:nvPr/>
        </p:nvSpPr>
        <p:spPr>
          <a:xfrm>
            <a:off x="7452360" y="2834640"/>
            <a:ext cx="3931920" cy="2468880"/>
          </a:xfrm>
          <a:prstGeom prst="rect">
            <a:avLst/>
          </a:prstGeom>
          <a:noFill/>
          <a:ln/>
        </p:spPr>
        <p:txBody>
          <a:bodyPr wrap="square" rtlCol="0" anchor="t">
            <a:normAutofit/>
          </a:bodyPr>
          <a:lstStyle/>
          <a:p>
            <a:pPr indent="0" marL="0">
              <a:lnSpc>
                <a:spcPct val="110000"/>
              </a:lnSpc>
              <a:buNone/>
            </a:pPr>
            <a:r>
              <a:rPr lang="en-US" sz="1800" dirty="0">
                <a:solidFill>
                  <a:srgbClr val="5A3D00"/>
                </a:solidFill>
                <a:latin typeface="Cambria" pitchFamily="34" charset="0"/>
                <a:ea typeface="Cambria" pitchFamily="34" charset="-122"/>
                <a:cs typeface="Cambria" pitchFamily="34" charset="-120"/>
              </a:rPr>
              <a:t>Can grades, attendance and LMS data be accessed during the term — not only at the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3F"/>
        </a:solidFill>
      </p:bgPr>
    </p:bg>
    <p:spTree>
      <p:nvGrpSpPr>
        <p:cNvPr id="1" name=""/>
        <p:cNvGrpSpPr/>
        <p:nvPr/>
      </p:nvGrpSpPr>
      <p:grpSpPr>
        <a:xfrm>
          <a:off x="0" y="0"/>
          <a:ext cx="0" cy="0"/>
          <a:chOff x="0" y="0"/>
          <a:chExt cx="0" cy="0"/>
        </a:xfrm>
      </p:grpSpPr>
      <p:sp>
        <p:nvSpPr>
          <p:cNvPr id="2" name="Text 0"/>
          <p:cNvSpPr/>
          <p:nvPr/>
        </p:nvSpPr>
        <p:spPr>
          <a:xfrm>
            <a:off x="548640" y="822960"/>
            <a:ext cx="6309360" cy="731520"/>
          </a:xfrm>
          <a:prstGeom prst="rect">
            <a:avLst/>
          </a:prstGeom>
          <a:noFill/>
          <a:ln/>
        </p:spPr>
        <p:txBody>
          <a:bodyPr wrap="square" rtlCol="0" anchor="ctr">
            <a:normAutofit/>
          </a:bodyPr>
          <a:lstStyle/>
          <a:p>
            <a:pPr indent="0" marL="0">
              <a:buNone/>
            </a:pPr>
            <a:r>
              <a:rPr lang="en-US" sz="2700" b="1" dirty="0">
                <a:solidFill>
                  <a:srgbClr val="FFFFFF"/>
                </a:solidFill>
                <a:latin typeface="Cambria" pitchFamily="34" charset="0"/>
                <a:ea typeface="Cambria" pitchFamily="34" charset="-122"/>
                <a:cs typeface="Cambria" pitchFamily="34" charset="-120"/>
              </a:rPr>
              <a:t>Team and roles</a:t>
            </a:r>
            <a:endParaRPr lang="en-US" sz="2700" dirty="0"/>
          </a:p>
        </p:txBody>
      </p:sp>
      <p:sp>
        <p:nvSpPr>
          <p:cNvPr id="3" name="Shape 1"/>
          <p:cNvSpPr/>
          <p:nvPr/>
        </p:nvSpPr>
        <p:spPr>
          <a:xfrm>
            <a:off x="548640" y="1783080"/>
            <a:ext cx="457200" cy="457200"/>
          </a:xfrm>
          <a:prstGeom prst="ellipse">
            <a:avLst/>
          </a:prstGeom>
          <a:solidFill>
            <a:srgbClr val="2E4C7E"/>
          </a:solidFill>
          <a:ln/>
        </p:spPr>
      </p:sp>
      <p:sp>
        <p:nvSpPr>
          <p:cNvPr id="4" name="Text 2"/>
          <p:cNvSpPr/>
          <p:nvPr/>
        </p:nvSpPr>
        <p:spPr>
          <a:xfrm>
            <a:off x="548640" y="1783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1783080"/>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Project coordination — [M1] / [M2]</a:t>
            </a:r>
            <a:endParaRPr lang="en-US" sz="1350" dirty="0"/>
          </a:p>
        </p:txBody>
      </p:sp>
      <p:sp>
        <p:nvSpPr>
          <p:cNvPr id="6" name="Shape 4"/>
          <p:cNvSpPr/>
          <p:nvPr/>
        </p:nvSpPr>
        <p:spPr>
          <a:xfrm>
            <a:off x="548640" y="2532888"/>
            <a:ext cx="457200" cy="457200"/>
          </a:xfrm>
          <a:prstGeom prst="ellipse">
            <a:avLst/>
          </a:prstGeom>
          <a:solidFill>
            <a:srgbClr val="2E4C7E"/>
          </a:solidFill>
          <a:ln/>
        </p:spPr>
      </p:sp>
      <p:sp>
        <p:nvSpPr>
          <p:cNvPr id="7" name="Text 5"/>
          <p:cNvSpPr/>
          <p:nvPr/>
        </p:nvSpPr>
        <p:spPr>
          <a:xfrm>
            <a:off x="548640" y="25328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188720" y="2532888"/>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Requirements / users — [M2] / [M3]</a:t>
            </a:r>
            <a:endParaRPr lang="en-US" sz="1350" dirty="0"/>
          </a:p>
        </p:txBody>
      </p:sp>
      <p:sp>
        <p:nvSpPr>
          <p:cNvPr id="9" name="Shape 7"/>
          <p:cNvSpPr/>
          <p:nvPr/>
        </p:nvSpPr>
        <p:spPr>
          <a:xfrm>
            <a:off x="548640" y="3282696"/>
            <a:ext cx="457200" cy="457200"/>
          </a:xfrm>
          <a:prstGeom prst="ellipse">
            <a:avLst/>
          </a:prstGeom>
          <a:solidFill>
            <a:srgbClr val="2E4C7E"/>
          </a:solidFill>
          <a:ln/>
        </p:spPr>
      </p:sp>
      <p:sp>
        <p:nvSpPr>
          <p:cNvPr id="10" name="Text 8"/>
          <p:cNvSpPr/>
          <p:nvPr/>
        </p:nvSpPr>
        <p:spPr>
          <a:xfrm>
            <a:off x="548640" y="3282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p:nvPr/>
        </p:nvSpPr>
        <p:spPr>
          <a:xfrm>
            <a:off x="1188720" y="3282696"/>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Design / data — [M3] / [M1]</a:t>
            </a:r>
            <a:endParaRPr lang="en-US" sz="1350" dirty="0"/>
          </a:p>
        </p:txBody>
      </p:sp>
      <p:sp>
        <p:nvSpPr>
          <p:cNvPr id="12" name="Shape 10"/>
          <p:cNvSpPr/>
          <p:nvPr/>
        </p:nvSpPr>
        <p:spPr>
          <a:xfrm>
            <a:off x="548640" y="4032504"/>
            <a:ext cx="457200" cy="457200"/>
          </a:xfrm>
          <a:prstGeom prst="ellipse">
            <a:avLst/>
          </a:prstGeom>
          <a:solidFill>
            <a:srgbClr val="2E4C7E"/>
          </a:solidFill>
          <a:ln/>
        </p:spPr>
      </p:sp>
      <p:sp>
        <p:nvSpPr>
          <p:cNvPr id="13" name="Text 11"/>
          <p:cNvSpPr/>
          <p:nvPr/>
        </p:nvSpPr>
        <p:spPr>
          <a:xfrm>
            <a:off x="548640" y="40325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188720" y="4032504"/>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Implementation — [M1] / [M4]</a:t>
            </a:r>
            <a:endParaRPr lang="en-US" sz="1350" dirty="0"/>
          </a:p>
        </p:txBody>
      </p:sp>
      <p:sp>
        <p:nvSpPr>
          <p:cNvPr id="15" name="Shape 13"/>
          <p:cNvSpPr/>
          <p:nvPr/>
        </p:nvSpPr>
        <p:spPr>
          <a:xfrm>
            <a:off x="548640" y="4782312"/>
            <a:ext cx="457200" cy="457200"/>
          </a:xfrm>
          <a:prstGeom prst="ellipse">
            <a:avLst/>
          </a:prstGeom>
          <a:solidFill>
            <a:srgbClr val="2E4C7E"/>
          </a:solidFill>
          <a:ln/>
        </p:spPr>
      </p:sp>
      <p:sp>
        <p:nvSpPr>
          <p:cNvPr id="16" name="Text 14"/>
          <p:cNvSpPr/>
          <p:nvPr/>
        </p:nvSpPr>
        <p:spPr>
          <a:xfrm>
            <a:off x="548640" y="47823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1188720" y="4782312"/>
            <a:ext cx="5760720" cy="548640"/>
          </a:xfrm>
          <a:prstGeom prst="rect">
            <a:avLst/>
          </a:prstGeom>
          <a:noFill/>
          <a:ln/>
        </p:spPr>
        <p:txBody>
          <a:bodyPr wrap="square" rtlCol="0" anchor="ctr">
            <a:normAutofit/>
          </a:bodyPr>
          <a:lstStyle/>
          <a:p>
            <a:pPr indent="0" marL="0">
              <a:buNone/>
            </a:pPr>
            <a:r>
              <a:rPr lang="en-US" sz="1350" dirty="0">
                <a:solidFill>
                  <a:srgbClr val="FFFFFF"/>
                </a:solidFill>
                <a:latin typeface="Calibri" pitchFamily="34" charset="0"/>
                <a:ea typeface="Calibri" pitchFamily="34" charset="-122"/>
                <a:cs typeface="Calibri" pitchFamily="34" charset="-120"/>
              </a:rPr>
              <a:t>Testing / documentation — [M4] / [M3]</a:t>
            </a:r>
            <a:endParaRPr lang="en-US" sz="1350" dirty="0"/>
          </a:p>
        </p:txBody>
      </p:sp>
      <p:sp>
        <p:nvSpPr>
          <p:cNvPr id="18" name="Text 16"/>
          <p:cNvSpPr/>
          <p:nvPr/>
        </p:nvSpPr>
        <p:spPr>
          <a:xfrm>
            <a:off x="548640" y="6035040"/>
            <a:ext cx="6400800" cy="365760"/>
          </a:xfrm>
          <a:prstGeom prst="rect">
            <a:avLst/>
          </a:prstGeom>
          <a:noFill/>
          <a:ln/>
        </p:spPr>
        <p:txBody>
          <a:bodyPr wrap="square" rtlCol="0" anchor="ctr"/>
          <a:lstStyle/>
          <a:p>
            <a:pPr indent="0" marL="0">
              <a:buNone/>
            </a:pPr>
            <a:r>
              <a:rPr lang="en-US" sz="1150" i="1" dirty="0">
                <a:solidFill>
                  <a:srgbClr val="CFE0F5"/>
                </a:solidFill>
                <a:latin typeface="Calibri" pitchFamily="34" charset="0"/>
                <a:ea typeface="Calibri" pitchFamily="34" charset="-122"/>
                <a:cs typeface="Calibri" pitchFamily="34" charset="-120"/>
              </a:rPr>
              <a:t>Each role has an owner, a backup, and a visible evidence link.</a:t>
            </a:r>
            <a:endParaRPr lang="en-US" sz="1150" dirty="0"/>
          </a:p>
        </p:txBody>
      </p:sp>
      <p:sp>
        <p:nvSpPr>
          <p:cNvPr id="19" name="Shape 17"/>
          <p:cNvSpPr/>
          <p:nvPr/>
        </p:nvSpPr>
        <p:spPr>
          <a:xfrm>
            <a:off x="7315200" y="2194560"/>
            <a:ext cx="4325112" cy="2468880"/>
          </a:xfrm>
          <a:prstGeom prst="roundRect">
            <a:avLst>
              <a:gd name="adj" fmla="val 3704"/>
            </a:avLst>
          </a:prstGeom>
          <a:solidFill>
            <a:srgbClr val="1F3864"/>
          </a:solidFill>
          <a:ln/>
        </p:spPr>
      </p:sp>
      <p:sp>
        <p:nvSpPr>
          <p:cNvPr id="20" name="Text 18"/>
          <p:cNvSpPr/>
          <p:nvPr/>
        </p:nvSpPr>
        <p:spPr>
          <a:xfrm>
            <a:off x="7315200" y="2606040"/>
            <a:ext cx="4325112" cy="10058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21" name="Text 19"/>
          <p:cNvSpPr/>
          <p:nvPr/>
        </p:nvSpPr>
        <p:spPr>
          <a:xfrm>
            <a:off x="7315200" y="3611880"/>
            <a:ext cx="4325112" cy="548640"/>
          </a:xfrm>
          <a:prstGeom prst="rect">
            <a:avLst/>
          </a:prstGeom>
          <a:noFill/>
          <a:ln/>
        </p:spPr>
        <p:txBody>
          <a:bodyPr wrap="square" rtlCol="0" anchor="ctr"/>
          <a:lstStyle/>
          <a:p>
            <a:pPr algn="ctr" indent="0" marL="0">
              <a:buNone/>
            </a:pPr>
            <a:r>
              <a:rPr lang="en-US" sz="1600" dirty="0">
                <a:solidFill>
                  <a:srgbClr val="CFE0F5"/>
                </a:solidFill>
                <a:latin typeface="Calibri" pitchFamily="34" charset="0"/>
                <a:ea typeface="Calibri" pitchFamily="34" charset="-122"/>
                <a:cs typeface="Calibri" pitchFamily="34" charset="-120"/>
              </a:rPr>
              <a:t>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2026-07-09T02:03:01Z</dcterms:created>
  <dcterms:modified xsi:type="dcterms:W3CDTF">2026-07-09T02:03:01Z</dcterms:modified>
</cp:coreProperties>
</file>