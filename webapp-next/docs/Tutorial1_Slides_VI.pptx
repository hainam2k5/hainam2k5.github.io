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thầy/cô và các bạn. Chúng em là Nhóm [X]. Đề tài capstone là Hệ thống cảnh báo sinh viên có nguy cơ học tập — một hệ hỗ trợ ra quyết định học vụ thuộc Chủ đề 08. Theo Tutorial 1, hôm nay chúng em trình bày phần khám phá vấn đề: quy trình hiện tại, các điểm nghẽn, nguyên nhân gốc rễ và phát biểu vấn đề.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Bối cảnh là chương trình cố vấn học tập của một trường đại học với hai ngành — Hệ thống thông tin quản lý, và Tự động hóa và Tin học. Mỗi cố vấn phụ trách một nhóm sinh viên trên nhiều học phần. Đây là bài toán hỗ trợ ra quyết định và phân tích dữ liệu. Ở bước này chúng em đang khung hóa vấn đề — chưa vội đưa ra giải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cách cố vấn đang làm hiện nay. Giảng viên nhập điểm thành phần vào các file Excel riêng lẻ. Điểm chỉ được nộp về khoa vào cuối kỳ. Cố vấn rà GPA và CPA thủ công. Chuyên cần và LMS được theo dõi tách rời, thậm chí không có. Cố vấn liên hệ sinh viên tùy hứng, và can thiệp thì ghi vào sổ tay cá nhân. Mọi thứ đều thủ công, rời rạc và dồn về cuối kỳ.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ba điểm nghẽn nổi bật. Thứ nhất, phát hiện muộn — cố vấn chỉ thấy kết quả sau khi sinh viên đã trượt; ta có thể đo khoảng cách từ lúc có nguy cơ đến khi được liên hệ. Thứ hai, phân tích thủ công một chiều — chỉ dựa vào GPA; ta có thể đếm số sinh viên bị bỏ sót. Thứ ba, không theo dõi can thiệp — không có lịch sử ca; ta có thể kiểm đếm số can thiệp có ghi chép.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Chúng em áp dụng 5 Whys cho việc phát hiện muộn. Vì sao muộn? Cố vấn chỉ thấy kết quả vào cuối kỳ. Vì sao? Dữ liệu nằm ở các file thủ công riêng lẻ, tổng hợp muộn. Vì sao? Không có góc nhìn chung, liên tục. Vì sao? Không có quy tắc giải thích được để gộp chỉ số, và không có cảnh báo. Vì sao? Quy trình thiết kế cho báo cáo cuối kỳ, không phải cảnh báo sớm. Vậy nguyên nhân gốc là khoảng trống về quy trình và thông tin — không đơn thuần là thiếu phần mềm.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phát biểu vấn đề một câu đang hiển thị trên màn hình. Nó nêu rõ người dùng, bằng chứng và tác động — và cố ý không mô tả giải pháp, đúng yêu cầu của Tutorial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kiểm chứng, trước Tutorial 2 chúng em sẽ phỏng vấn ba cố vấn, xác nhận những chỉ số nào thực sự có sẵn trong kỳ, và đo thời gian phát hiện cùng số ca bị bỏ sót trên một nhóm mẫu. Giả định quan trọng cần kiểm chứng trước là liệu điểm, chuyên cần và dữ liệu LMS có thể truy cập ngay trong kỳ hay không — chứ không chỉ vào cuối kỳ.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có người phụ trách rõ ràng cho điều phối, yêu cầu/người dùng, thiết kế và dữ liệu, lập trình, và kiểm thử/tài liệu — mỗi vai trò đều có người dự phòng và liên kết bằng chứng. Cảm ơn thầy/cô và các bạn; chúng em rất mong nhận được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p:bgPr>
    </p:bg>
    <p:spTree>
      <p:nvGrpSpPr>
        <p:cNvPr id="1" name=""/>
        <p:cNvGrpSpPr/>
        <p:nvPr/>
      </p:nvGrpSpPr>
      <p:grpSpPr>
        <a:xfrm>
          <a:off x="0" y="0"/>
          <a:ext cx="0" cy="0"/>
          <a:chOff x="0" y="0"/>
          <a:chExt cx="0" cy="0"/>
        </a:xfrm>
      </p:grpSpPr>
      <p:sp>
        <p:nvSpPr>
          <p:cNvPr id="2" name="Shape 0"/>
          <p:cNvSpPr/>
          <p:nvPr/>
        </p:nvSpPr>
        <p:spPr>
          <a:xfrm>
            <a:off x="10454335" y="640080"/>
            <a:ext cx="868680" cy="868680"/>
          </a:xfrm>
          <a:prstGeom prst="ellipse">
            <a:avLst/>
          </a:prstGeom>
          <a:solidFill>
            <a:srgbClr val="2E4C7E"/>
          </a:solidFill>
          <a:ln/>
        </p:spPr>
      </p:sp>
      <p:sp>
        <p:nvSpPr>
          <p:cNvPr id="3" name="Text 1"/>
          <p:cNvSpPr/>
          <p:nvPr/>
        </p:nvSpPr>
        <p:spPr>
          <a:xfrm>
            <a:off x="10454335" y="640080"/>
            <a:ext cx="86868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08</a:t>
            </a:r>
            <a:endParaRPr lang="en-US" sz="2000" dirty="0"/>
          </a:p>
        </p:txBody>
      </p:sp>
      <p:sp>
        <p:nvSpPr>
          <p:cNvPr id="4" name="Text 2"/>
          <p:cNvSpPr/>
          <p:nvPr/>
        </p:nvSpPr>
        <p:spPr>
          <a:xfrm>
            <a:off x="548640" y="1371600"/>
            <a:ext cx="8229600" cy="320040"/>
          </a:xfrm>
          <a:prstGeom prst="rect">
            <a:avLst/>
          </a:prstGeom>
          <a:noFill/>
          <a:ln/>
        </p:spPr>
        <p:txBody>
          <a:bodyPr wrap="square" rtlCol="0" anchor="ctr"/>
          <a:lstStyle/>
          <a:p>
            <a:pPr indent="0" marL="0">
              <a:buNone/>
            </a:pPr>
            <a:r>
              <a:rPr lang="en-US" sz="1300" b="1" spc="200" kern="0" dirty="0">
                <a:solidFill>
                  <a:srgbClr val="CFE0F5"/>
                </a:solidFill>
                <a:latin typeface="Calibri" pitchFamily="34" charset="0"/>
                <a:ea typeface="Calibri" pitchFamily="34" charset="-122"/>
                <a:cs typeface="Calibri" pitchFamily="34" charset="-120"/>
              </a:rPr>
              <a:t>INS3282 · CAPSTONE PROJECT II — TUTORIAL 1</a:t>
            </a:r>
            <a:endParaRPr lang="en-US" sz="1300" dirty="0"/>
          </a:p>
        </p:txBody>
      </p:sp>
      <p:sp>
        <p:nvSpPr>
          <p:cNvPr id="5" name="Text 3"/>
          <p:cNvSpPr/>
          <p:nvPr/>
        </p:nvSpPr>
        <p:spPr>
          <a:xfrm>
            <a:off x="548640" y="2148840"/>
            <a:ext cx="10241280" cy="1737360"/>
          </a:xfrm>
          <a:prstGeom prst="rect">
            <a:avLst/>
          </a:prstGeom>
          <a:noFill/>
          <a:ln/>
        </p:spPr>
        <p:txBody>
          <a:bodyPr wrap="square" rtlCol="0" anchor="ctr">
            <a:normAutofit/>
          </a:bodyPr>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Hệ thống cảnh báo sinh viên có nguy cơ học tập</a:t>
            </a:r>
            <a:endParaRPr lang="en-US" sz="4000" dirty="0"/>
          </a:p>
        </p:txBody>
      </p:sp>
      <p:sp>
        <p:nvSpPr>
          <p:cNvPr id="6" name="Text 4"/>
          <p:cNvSpPr/>
          <p:nvPr/>
        </p:nvSpPr>
        <p:spPr>
          <a:xfrm>
            <a:off x="548640" y="3977640"/>
            <a:ext cx="9692640" cy="822960"/>
          </a:xfrm>
          <a:prstGeom prst="rect">
            <a:avLst/>
          </a:prstGeom>
          <a:noFill/>
          <a:ln/>
        </p:spPr>
        <p:txBody>
          <a:bodyPr wrap="square" rtlCol="0" anchor="ctr">
            <a:normAutofit/>
          </a:bodyPr>
          <a:lstStyle/>
          <a:p>
            <a:pPr indent="0" marL="0">
              <a:buNone/>
            </a:pPr>
            <a:r>
              <a:rPr lang="en-US" sz="1700" dirty="0">
                <a:solidFill>
                  <a:srgbClr val="CFE0F5"/>
                </a:solidFill>
                <a:latin typeface="Calibri" pitchFamily="34" charset="0"/>
                <a:ea typeface="Calibri" pitchFamily="34" charset="-122"/>
                <a:cs typeface="Calibri" pitchFamily="34" charset="-120"/>
              </a:rPr>
              <a:t>Khám phá vấn đề — quy trình hiện tại, điểm nghẽn, nguyên nhân gốc và phát biểu vấn đề</a:t>
            </a:r>
            <a:endParaRPr lang="en-US" sz="1700" dirty="0"/>
          </a:p>
        </p:txBody>
      </p:sp>
      <p:sp>
        <p:nvSpPr>
          <p:cNvPr id="7" name="Text 5"/>
          <p:cNvSpPr/>
          <p:nvPr/>
        </p:nvSpPr>
        <p:spPr>
          <a:xfrm>
            <a:off x="548640" y="4892040"/>
            <a:ext cx="9144000" cy="365760"/>
          </a:xfrm>
          <a:prstGeom prst="rect">
            <a:avLst/>
          </a:prstGeom>
          <a:noFill/>
          <a:ln/>
        </p:spPr>
        <p:txBody>
          <a:bodyPr wrap="square" rtlCol="0" anchor="ctr"/>
          <a:lstStyle/>
          <a:p>
            <a:pPr indent="0" marL="0">
              <a:buNone/>
            </a:pPr>
            <a:r>
              <a:rPr lang="en-US" sz="1400" b="1" dirty="0">
                <a:solidFill>
                  <a:srgbClr val="E9A93A"/>
                </a:solidFill>
                <a:latin typeface="Calibri" pitchFamily="34" charset="0"/>
                <a:ea typeface="Calibri" pitchFamily="34" charset="-122"/>
                <a:cs typeface="Calibri" pitchFamily="34" charset="-120"/>
              </a:rPr>
              <a:t>Chủ đề 08 · Hệ hỗ trợ ra quyết định học vụ</a:t>
            </a:r>
            <a:endParaRPr lang="en-US" sz="1400" dirty="0"/>
          </a:p>
        </p:txBody>
      </p:sp>
      <p:sp>
        <p:nvSpPr>
          <p:cNvPr id="8" name="Text 6"/>
          <p:cNvSpPr/>
          <p:nvPr/>
        </p:nvSpPr>
        <p:spPr>
          <a:xfrm>
            <a:off x="548640" y="5989320"/>
            <a:ext cx="100584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Nhóm [X]  —  [Thành viên 1] · [Thành viên 2] · [Thành viên 3] · [Thành viên 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C77D00"/>
                </a:solidFill>
                <a:latin typeface="Calibri" pitchFamily="34" charset="0"/>
                <a:ea typeface="Calibri" pitchFamily="34" charset="-122"/>
                <a:cs typeface="Calibri" pitchFamily="34" charset="-120"/>
              </a:rPr>
              <a:t>BỐI CẢNH</a:t>
            </a:r>
            <a:endParaRPr lang="en-US" sz="1200" dirty="0"/>
          </a:p>
        </p:txBody>
      </p:sp>
      <p:sp>
        <p:nvSpPr>
          <p:cNvPr id="3" name="Text 1"/>
          <p:cNvSpPr/>
          <p:nvPr/>
        </p:nvSpPr>
        <p:spPr>
          <a:xfrm>
            <a:off x="548640" y="676656"/>
            <a:ext cx="11094415" cy="777240"/>
          </a:xfrm>
          <a:prstGeom prst="rect">
            <a:avLst/>
          </a:prstGeom>
          <a:noFill/>
          <a:ln/>
        </p:spPr>
        <p:txBody>
          <a:bodyPr wrap="square" rtlCol="0" anchor="ctr">
            <a:normAutofit/>
          </a:bodyPr>
          <a:lstStyle/>
          <a:p>
            <a:pPr indent="0" marL="0">
              <a:buNone/>
            </a:pPr>
            <a:r>
              <a:rPr lang="en-US" sz="2900" b="1" dirty="0">
                <a:solidFill>
                  <a:srgbClr val="1F3864"/>
                </a:solidFill>
                <a:latin typeface="Cambria" pitchFamily="34" charset="0"/>
                <a:ea typeface="Cambria" pitchFamily="34" charset="-122"/>
                <a:cs typeface="Cambria" pitchFamily="34" charset="-120"/>
              </a:rPr>
              <a:t>Bối cảnh và phạm vi</a:t>
            </a:r>
            <a:endParaRPr lang="en-US" sz="2900" dirty="0"/>
          </a:p>
        </p:txBody>
      </p:sp>
      <p:sp>
        <p:nvSpPr>
          <p:cNvPr id="4" name="Text 2"/>
          <p:cNvSpPr/>
          <p:nvPr/>
        </p:nvSpPr>
        <p:spPr>
          <a:xfrm>
            <a:off x="10637215" y="6355080"/>
            <a:ext cx="1097280" cy="274320"/>
          </a:xfrm>
          <a:prstGeom prst="rect">
            <a:avLst/>
          </a:prstGeom>
          <a:noFill/>
          <a:ln/>
        </p:spPr>
        <p:txBody>
          <a:bodyPr wrap="square" rtlCol="0" anchor="ctr"/>
          <a:lstStyle/>
          <a:p>
            <a:pPr algn="r" indent="0" marL="0">
              <a:buNone/>
            </a:pPr>
            <a:r>
              <a:rPr lang="en-US" sz="1000" b="1" dirty="0">
                <a:solidFill>
                  <a:srgbClr val="1F3864"/>
                </a:solidFill>
                <a:latin typeface="Calibri" pitchFamily="34" charset="0"/>
                <a:ea typeface="Calibri" pitchFamily="34" charset="-122"/>
                <a:cs typeface="Calibri" pitchFamily="34" charset="-120"/>
              </a:rPr>
              <a:t>02</a:t>
            </a:r>
            <a:pPr algn="r" indent="0" marL="0">
              <a:buNone/>
            </a:pPr>
            <a:r>
              <a:rPr lang="en-US" sz="1000" dirty="0">
                <a:solidFill>
                  <a:srgbClr val="5B6B7F"/>
                </a:solidFill>
                <a:latin typeface="Calibri" pitchFamily="34" charset="0"/>
                <a:ea typeface="Calibri" pitchFamily="34" charset="-122"/>
                <a:cs typeface="Calibri" pitchFamily="34" charset="-120"/>
              </a:rPr>
              <a:t>  /  08</a:t>
            </a:r>
            <a:endParaRPr lang="en-US" sz="1000" dirty="0"/>
          </a:p>
        </p:txBody>
      </p:sp>
      <p:sp>
        <p:nvSpPr>
          <p:cNvPr id="5" name="Text 3"/>
          <p:cNvSpPr/>
          <p:nvPr/>
        </p:nvSpPr>
        <p:spPr>
          <a:xfrm>
            <a:off x="548640" y="1783080"/>
            <a:ext cx="6126480" cy="1097280"/>
          </a:xfrm>
          <a:prstGeom prst="rect">
            <a:avLst/>
          </a:prstGeom>
          <a:noFill/>
          <a:ln/>
        </p:spPr>
        <p:txBody>
          <a:bodyPr wrap="square" rtlCol="0" anchor="ctr">
            <a:normAutofit/>
          </a:bodyPr>
          <a:lstStyle/>
          <a:p>
            <a:pPr indent="0" marL="0">
              <a:lnSpc>
                <a:spcPct val="105000"/>
              </a:lnSpc>
              <a:buNone/>
            </a:pPr>
            <a:r>
              <a:rPr lang="en-US" sz="1500" dirty="0">
                <a:solidFill>
                  <a:srgbClr val="1E2833"/>
                </a:solidFill>
                <a:latin typeface="Calibri" pitchFamily="34" charset="0"/>
                <a:ea typeface="Calibri" pitchFamily="34" charset="-122"/>
                <a:cs typeface="Calibri" pitchFamily="34" charset="-120"/>
              </a:rPr>
              <a:t>Chương trình cố vấn học tập của một trường đại học. Ở bước này, nhóm khung hóa vấn đề — chưa bàn giải pháp.</a:t>
            </a:r>
            <a:endParaRPr lang="en-US" sz="1500" dirty="0"/>
          </a:p>
        </p:txBody>
      </p:sp>
      <p:sp>
        <p:nvSpPr>
          <p:cNvPr id="6" name="Text 4"/>
          <p:cNvSpPr/>
          <p:nvPr/>
        </p:nvSpPr>
        <p:spPr>
          <a:xfrm>
            <a:off x="548640" y="2971800"/>
            <a:ext cx="6126480" cy="2743200"/>
          </a:xfrm>
          <a:prstGeom prst="rect">
            <a:avLst/>
          </a:prstGeom>
          <a:noFill/>
          <a:ln/>
        </p:spPr>
        <p:txBody>
          <a:bodyPr wrap="square" rtlCol="0" anchor="t">
            <a:normAutofit/>
          </a:bodyPr>
          <a:lstStyle/>
          <a:p>
            <a:pPr marL="228600" indent="-228600">
              <a:spcAft>
                <a:spcPts val="1000"/>
              </a:spcAft>
              <a:buSzPct val="100000"/>
              <a:buChar char="•"/>
            </a:pPr>
            <a:r>
              <a:rPr lang="en-US" sz="1450" dirty="0">
                <a:solidFill>
                  <a:srgbClr val="1E2833"/>
                </a:solidFill>
                <a:latin typeface="Calibri" pitchFamily="34" charset="0"/>
                <a:ea typeface="Calibri" pitchFamily="34" charset="-122"/>
                <a:cs typeface="Calibri" pitchFamily="34" charset="-120"/>
              </a:rPr>
              <a:t>Mỗi cố vấn phụ trách một nhóm sinh viên trên nhiều học phần</a:t>
            </a:r>
            <a:endParaRPr lang="en-US" sz="1450" dirty="0"/>
          </a:p>
          <a:p>
            <a:pPr marL="228600" indent="-228600">
              <a:spcAft>
                <a:spcPts val="1000"/>
              </a:spcAft>
              <a:buSzPct val="100000"/>
              <a:buChar char="•"/>
            </a:pPr>
            <a:r>
              <a:rPr lang="en-US" sz="1450" dirty="0">
                <a:solidFill>
                  <a:srgbClr val="1E2833"/>
                </a:solidFill>
                <a:latin typeface="Calibri" pitchFamily="34" charset="0"/>
                <a:ea typeface="Calibri" pitchFamily="34" charset="-122"/>
                <a:cs typeface="Calibri" pitchFamily="34" charset="-120"/>
              </a:rPr>
              <a:t>Bài toán hỗ trợ ra quyết định và phân tích dữ liệu (DSS học vụ)</a:t>
            </a:r>
            <a:endParaRPr lang="en-US" sz="1450" dirty="0"/>
          </a:p>
          <a:p>
            <a:pPr marL="228600" indent="-228600">
              <a:spcAft>
                <a:spcPts val="1000"/>
              </a:spcAft>
              <a:buSzPct val="100000"/>
              <a:buChar char="•"/>
            </a:pPr>
            <a:r>
              <a:rPr lang="en-US" sz="1450" dirty="0">
                <a:solidFill>
                  <a:srgbClr val="1E2833"/>
                </a:solidFill>
                <a:latin typeface="Calibri" pitchFamily="34" charset="0"/>
                <a:ea typeface="Calibri" pitchFamily="34" charset="-122"/>
                <a:cs typeface="Calibri" pitchFamily="34" charset="-120"/>
              </a:rPr>
              <a:t>Người dùng: cố vấn, quản lý chương trình, giảng viên, sinh viên</a:t>
            </a:r>
            <a:endParaRPr lang="en-US" sz="1450" dirty="0"/>
          </a:p>
        </p:txBody>
      </p:sp>
      <p:sp>
        <p:nvSpPr>
          <p:cNvPr id="7" name="Shape 5"/>
          <p:cNvSpPr/>
          <p:nvPr/>
        </p:nvSpPr>
        <p:spPr>
          <a:xfrm>
            <a:off x="7040880" y="1783080"/>
            <a:ext cx="4599432" cy="3977640"/>
          </a:xfrm>
          <a:prstGeom prst="roundRect">
            <a:avLst>
              <a:gd name="adj" fmla="val 2069"/>
            </a:avLst>
          </a:prstGeom>
          <a:solidFill>
            <a:srgbClr val="F3F6FB"/>
          </a:solidFill>
          <a:ln w="12700">
            <a:solidFill>
              <a:srgbClr val="E4EAF3"/>
            </a:solidFill>
            <a:prstDash val="solid"/>
          </a:ln>
          <a:effectLst>
            <a:outerShdw sx="100000" sy="100000" kx="0" ky="0" algn="bl" rotWithShape="0" blurRad="101600" dist="25400" dir="5400000">
              <a:srgbClr val="9FB0C8">
                <a:alpha val="28000"/>
              </a:srgbClr>
            </a:outerShdw>
          </a:effectLst>
        </p:spPr>
      </p:sp>
      <p:sp>
        <p:nvSpPr>
          <p:cNvPr id="8" name="Text 6"/>
          <p:cNvSpPr/>
          <p:nvPr/>
        </p:nvSpPr>
        <p:spPr>
          <a:xfrm>
            <a:off x="7315200" y="2057400"/>
            <a:ext cx="4023360" cy="320040"/>
          </a:xfrm>
          <a:prstGeom prst="rect">
            <a:avLst/>
          </a:prstGeom>
          <a:noFill/>
          <a:ln/>
        </p:spPr>
        <p:txBody>
          <a:bodyPr wrap="square" rtlCol="0" anchor="ctr"/>
          <a:lstStyle/>
          <a:p>
            <a:pPr indent="0" marL="0">
              <a:buNone/>
            </a:pPr>
            <a:r>
              <a:rPr lang="en-US" sz="1200" b="1" spc="100" kern="0" dirty="0">
                <a:solidFill>
                  <a:srgbClr val="5B6B7F"/>
                </a:solidFill>
                <a:latin typeface="Calibri" pitchFamily="34" charset="0"/>
                <a:ea typeface="Calibri" pitchFamily="34" charset="-122"/>
                <a:cs typeface="Calibri" pitchFamily="34" charset="-120"/>
              </a:rPr>
              <a:t>HAI NGÀNH</a:t>
            </a:r>
            <a:endParaRPr lang="en-US" sz="1200" dirty="0"/>
          </a:p>
        </p:txBody>
      </p:sp>
      <p:sp>
        <p:nvSpPr>
          <p:cNvPr id="9" name="Shape 7"/>
          <p:cNvSpPr/>
          <p:nvPr/>
        </p:nvSpPr>
        <p:spPr>
          <a:xfrm>
            <a:off x="7315200" y="2560320"/>
            <a:ext cx="4050792" cy="1143000"/>
          </a:xfrm>
          <a:prstGeom prst="roundRect">
            <a:avLst>
              <a:gd name="adj" fmla="val 5600"/>
            </a:avLst>
          </a:prstGeom>
          <a:solidFill>
            <a:srgbClr val="1F3864"/>
          </a:solidFill>
          <a:ln/>
        </p:spPr>
      </p:sp>
      <p:sp>
        <p:nvSpPr>
          <p:cNvPr id="10" name="Shape 8"/>
          <p:cNvSpPr/>
          <p:nvPr/>
        </p:nvSpPr>
        <p:spPr>
          <a:xfrm>
            <a:off x="7543800" y="2871216"/>
            <a:ext cx="512064" cy="512064"/>
          </a:xfrm>
          <a:prstGeom prst="ellipse">
            <a:avLst/>
          </a:prstGeom>
          <a:solidFill>
            <a:srgbClr val="FFFFFF"/>
          </a:solidFill>
          <a:ln/>
        </p:spPr>
      </p:sp>
      <p:sp>
        <p:nvSpPr>
          <p:cNvPr id="11" name="Text 9"/>
          <p:cNvSpPr/>
          <p:nvPr/>
        </p:nvSpPr>
        <p:spPr>
          <a:xfrm>
            <a:off x="7543800" y="2871216"/>
            <a:ext cx="512064" cy="512064"/>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1</a:t>
            </a:r>
            <a:endParaRPr lang="en-US" sz="1500" dirty="0"/>
          </a:p>
        </p:txBody>
      </p:sp>
      <p:sp>
        <p:nvSpPr>
          <p:cNvPr id="12" name="Text 10"/>
          <p:cNvSpPr/>
          <p:nvPr/>
        </p:nvSpPr>
        <p:spPr>
          <a:xfrm>
            <a:off x="8183880" y="2560320"/>
            <a:ext cx="3108960" cy="1143000"/>
          </a:xfrm>
          <a:prstGeom prst="rect">
            <a:avLst/>
          </a:prstGeom>
          <a:noFill/>
          <a:ln/>
        </p:spPr>
        <p:txBody>
          <a:bodyPr wrap="square"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Hệ thống thông tin quản lý</a:t>
            </a:r>
            <a:endParaRPr lang="en-US" sz="1500" dirty="0"/>
          </a:p>
        </p:txBody>
      </p:sp>
      <p:sp>
        <p:nvSpPr>
          <p:cNvPr id="13" name="Shape 11"/>
          <p:cNvSpPr/>
          <p:nvPr/>
        </p:nvSpPr>
        <p:spPr>
          <a:xfrm>
            <a:off x="7315200" y="3977640"/>
            <a:ext cx="4050792" cy="1143000"/>
          </a:xfrm>
          <a:prstGeom prst="roundRect">
            <a:avLst>
              <a:gd name="adj" fmla="val 5600"/>
            </a:avLst>
          </a:prstGeom>
          <a:solidFill>
            <a:srgbClr val="1F3864"/>
          </a:solidFill>
          <a:ln/>
        </p:spPr>
      </p:sp>
      <p:sp>
        <p:nvSpPr>
          <p:cNvPr id="14" name="Shape 12"/>
          <p:cNvSpPr/>
          <p:nvPr/>
        </p:nvSpPr>
        <p:spPr>
          <a:xfrm>
            <a:off x="7543800" y="4288536"/>
            <a:ext cx="512064" cy="512064"/>
          </a:xfrm>
          <a:prstGeom prst="ellipse">
            <a:avLst/>
          </a:prstGeom>
          <a:solidFill>
            <a:srgbClr val="FFFFFF"/>
          </a:solidFill>
          <a:ln/>
        </p:spPr>
      </p:sp>
      <p:sp>
        <p:nvSpPr>
          <p:cNvPr id="15" name="Text 13"/>
          <p:cNvSpPr/>
          <p:nvPr/>
        </p:nvSpPr>
        <p:spPr>
          <a:xfrm>
            <a:off x="7543800" y="4288536"/>
            <a:ext cx="512064" cy="512064"/>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8183880" y="3977640"/>
            <a:ext cx="3108960" cy="1143000"/>
          </a:xfrm>
          <a:prstGeom prst="rect">
            <a:avLst/>
          </a:prstGeom>
          <a:noFill/>
          <a:ln/>
        </p:spPr>
        <p:txBody>
          <a:bodyPr wrap="square"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Tự động hóa và Tin học</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C77D00"/>
                </a:solidFill>
                <a:latin typeface="Calibri" pitchFamily="34" charset="0"/>
                <a:ea typeface="Calibri" pitchFamily="34" charset="-122"/>
                <a:cs typeface="Calibri" pitchFamily="34" charset="-120"/>
              </a:rPr>
              <a:t>ACTIVITY 2</a:t>
            </a:r>
            <a:endParaRPr lang="en-US" sz="1200" dirty="0"/>
          </a:p>
        </p:txBody>
      </p:sp>
      <p:sp>
        <p:nvSpPr>
          <p:cNvPr id="3" name="Text 1"/>
          <p:cNvSpPr/>
          <p:nvPr/>
        </p:nvSpPr>
        <p:spPr>
          <a:xfrm>
            <a:off x="548640" y="676656"/>
            <a:ext cx="11094415" cy="777240"/>
          </a:xfrm>
          <a:prstGeom prst="rect">
            <a:avLst/>
          </a:prstGeom>
          <a:noFill/>
          <a:ln/>
        </p:spPr>
        <p:txBody>
          <a:bodyPr wrap="square" rtlCol="0" anchor="ctr">
            <a:normAutofit/>
          </a:bodyPr>
          <a:lstStyle/>
          <a:p>
            <a:pPr indent="0" marL="0">
              <a:buNone/>
            </a:pPr>
            <a:r>
              <a:rPr lang="en-US" sz="2900" b="1" dirty="0">
                <a:solidFill>
                  <a:srgbClr val="1F3864"/>
                </a:solidFill>
                <a:latin typeface="Cambria" pitchFamily="34" charset="0"/>
                <a:ea typeface="Cambria" pitchFamily="34" charset="-122"/>
                <a:cs typeface="Cambria" pitchFamily="34" charset="-120"/>
              </a:rPr>
              <a:t>Cố vấn đang làm thế nào hiện nay</a:t>
            </a:r>
            <a:endParaRPr lang="en-US" sz="2900" dirty="0"/>
          </a:p>
        </p:txBody>
      </p:sp>
      <p:sp>
        <p:nvSpPr>
          <p:cNvPr id="4" name="Text 2"/>
          <p:cNvSpPr/>
          <p:nvPr/>
        </p:nvSpPr>
        <p:spPr>
          <a:xfrm>
            <a:off x="10637215" y="6355080"/>
            <a:ext cx="1097280" cy="274320"/>
          </a:xfrm>
          <a:prstGeom prst="rect">
            <a:avLst/>
          </a:prstGeom>
          <a:noFill/>
          <a:ln/>
        </p:spPr>
        <p:txBody>
          <a:bodyPr wrap="square" rtlCol="0" anchor="ctr"/>
          <a:lstStyle/>
          <a:p>
            <a:pPr algn="r" indent="0" marL="0">
              <a:buNone/>
            </a:pPr>
            <a:r>
              <a:rPr lang="en-US" sz="1000" b="1" dirty="0">
                <a:solidFill>
                  <a:srgbClr val="1F3864"/>
                </a:solidFill>
                <a:latin typeface="Calibri" pitchFamily="34" charset="0"/>
                <a:ea typeface="Calibri" pitchFamily="34" charset="-122"/>
                <a:cs typeface="Calibri" pitchFamily="34" charset="-120"/>
              </a:rPr>
              <a:t>03</a:t>
            </a:r>
            <a:pPr algn="r" indent="0" marL="0">
              <a:buNone/>
            </a:pPr>
            <a:r>
              <a:rPr lang="en-US" sz="1000" dirty="0">
                <a:solidFill>
                  <a:srgbClr val="5B6B7F"/>
                </a:solidFill>
                <a:latin typeface="Calibri" pitchFamily="34" charset="0"/>
                <a:ea typeface="Calibri" pitchFamily="34" charset="-122"/>
                <a:cs typeface="Calibri" pitchFamily="34" charset="-120"/>
              </a:rPr>
              <a:t>  /  08</a:t>
            </a:r>
            <a:endParaRPr lang="en-US" sz="1000" dirty="0"/>
          </a:p>
        </p:txBody>
      </p:sp>
      <p:sp>
        <p:nvSpPr>
          <p:cNvPr id="5" name="Shape 3"/>
          <p:cNvSpPr/>
          <p:nvPr/>
        </p:nvSpPr>
        <p:spPr>
          <a:xfrm>
            <a:off x="548640" y="1783080"/>
            <a:ext cx="3484778" cy="1481328"/>
          </a:xfrm>
          <a:prstGeom prst="roundRect">
            <a:avLst>
              <a:gd name="adj" fmla="val 4938"/>
            </a:avLst>
          </a:prstGeom>
          <a:solidFill>
            <a:srgbClr val="F3F6FB"/>
          </a:solidFill>
          <a:ln w="12700">
            <a:solidFill>
              <a:srgbClr val="E4EAF3"/>
            </a:solidFill>
            <a:prstDash val="solid"/>
          </a:ln>
          <a:effectLst>
            <a:outerShdw sx="100000" sy="100000" kx="0" ky="0" algn="bl" rotWithShape="0" blurRad="88900" dist="25400" dir="5400000">
              <a:srgbClr val="9FB0C8">
                <a:alpha val="25000"/>
              </a:srgbClr>
            </a:outerShdw>
          </a:effectLst>
        </p:spPr>
      </p:sp>
      <p:sp>
        <p:nvSpPr>
          <p:cNvPr id="6" name="Shape 4"/>
          <p:cNvSpPr/>
          <p:nvPr/>
        </p:nvSpPr>
        <p:spPr>
          <a:xfrm>
            <a:off x="749808" y="1984248"/>
            <a:ext cx="457200" cy="457200"/>
          </a:xfrm>
          <a:prstGeom prst="ellipse">
            <a:avLst/>
          </a:prstGeom>
          <a:solidFill>
            <a:srgbClr val="1F3864"/>
          </a:solidFill>
          <a:ln/>
        </p:spPr>
      </p:sp>
      <p:sp>
        <p:nvSpPr>
          <p:cNvPr id="7" name="Text 5"/>
          <p:cNvSpPr/>
          <p:nvPr/>
        </p:nvSpPr>
        <p:spPr>
          <a:xfrm>
            <a:off x="749808" y="19842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25880" y="1929384"/>
            <a:ext cx="2524658" cy="1207008"/>
          </a:xfrm>
          <a:prstGeom prst="rect">
            <a:avLst/>
          </a:prstGeom>
          <a:noFill/>
          <a:ln/>
        </p:spPr>
        <p:txBody>
          <a:bodyPr wrap="square" rtlCol="0" anchor="ctr">
            <a:normAutofit/>
          </a:bodyPr>
          <a:lstStyle/>
          <a:p>
            <a:pPr indent="0" marL="0">
              <a:buNone/>
            </a:pPr>
            <a:r>
              <a:rPr lang="en-US" sz="1250" dirty="0">
                <a:solidFill>
                  <a:srgbClr val="1E2833"/>
                </a:solidFill>
                <a:latin typeface="Calibri" pitchFamily="34" charset="0"/>
                <a:ea typeface="Calibri" pitchFamily="34" charset="-122"/>
                <a:cs typeface="Calibri" pitchFamily="34" charset="-120"/>
              </a:rPr>
              <a:t>Giảng viên nhập điểm TX / GK / CK vào các file Excel riêng lẻ</a:t>
            </a:r>
            <a:endParaRPr lang="en-US" sz="1250" dirty="0"/>
          </a:p>
        </p:txBody>
      </p:sp>
      <p:sp>
        <p:nvSpPr>
          <p:cNvPr id="9" name="Shape 7"/>
          <p:cNvSpPr/>
          <p:nvPr/>
        </p:nvSpPr>
        <p:spPr>
          <a:xfrm>
            <a:off x="4353458" y="1783080"/>
            <a:ext cx="3484778" cy="1481328"/>
          </a:xfrm>
          <a:prstGeom prst="roundRect">
            <a:avLst>
              <a:gd name="adj" fmla="val 4938"/>
            </a:avLst>
          </a:prstGeom>
          <a:solidFill>
            <a:srgbClr val="F3F6FB"/>
          </a:solidFill>
          <a:ln w="12700">
            <a:solidFill>
              <a:srgbClr val="E4EAF3"/>
            </a:solidFill>
            <a:prstDash val="solid"/>
          </a:ln>
          <a:effectLst>
            <a:outerShdw sx="100000" sy="100000" kx="0" ky="0" algn="bl" rotWithShape="0" blurRad="88900" dist="25400" dir="5400000">
              <a:srgbClr val="9FB0C8">
                <a:alpha val="25000"/>
              </a:srgbClr>
            </a:outerShdw>
          </a:effectLst>
        </p:spPr>
      </p:sp>
      <p:sp>
        <p:nvSpPr>
          <p:cNvPr id="10" name="Shape 8"/>
          <p:cNvSpPr/>
          <p:nvPr/>
        </p:nvSpPr>
        <p:spPr>
          <a:xfrm>
            <a:off x="4554626" y="1984248"/>
            <a:ext cx="457200" cy="457200"/>
          </a:xfrm>
          <a:prstGeom prst="ellipse">
            <a:avLst/>
          </a:prstGeom>
          <a:solidFill>
            <a:srgbClr val="1F3864"/>
          </a:solidFill>
          <a:ln/>
        </p:spPr>
      </p:sp>
      <p:sp>
        <p:nvSpPr>
          <p:cNvPr id="11" name="Text 9"/>
          <p:cNvSpPr/>
          <p:nvPr/>
        </p:nvSpPr>
        <p:spPr>
          <a:xfrm>
            <a:off x="4554626" y="19842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130698" y="1929384"/>
            <a:ext cx="2524658" cy="1207008"/>
          </a:xfrm>
          <a:prstGeom prst="rect">
            <a:avLst/>
          </a:prstGeom>
          <a:noFill/>
          <a:ln/>
        </p:spPr>
        <p:txBody>
          <a:bodyPr wrap="square" rtlCol="0" anchor="ctr">
            <a:normAutofit/>
          </a:bodyPr>
          <a:lstStyle/>
          <a:p>
            <a:pPr indent="0" marL="0">
              <a:buNone/>
            </a:pPr>
            <a:r>
              <a:rPr lang="en-US" sz="1250" dirty="0">
                <a:solidFill>
                  <a:srgbClr val="1E2833"/>
                </a:solidFill>
                <a:latin typeface="Calibri" pitchFamily="34" charset="0"/>
                <a:ea typeface="Calibri" pitchFamily="34" charset="-122"/>
                <a:cs typeface="Calibri" pitchFamily="34" charset="-120"/>
              </a:rPr>
              <a:t>Điểm chỉ được nộp về khoa vào cuối kỳ</a:t>
            </a:r>
            <a:endParaRPr lang="en-US" sz="1250" dirty="0"/>
          </a:p>
        </p:txBody>
      </p:sp>
      <p:sp>
        <p:nvSpPr>
          <p:cNvPr id="13" name="Shape 11"/>
          <p:cNvSpPr/>
          <p:nvPr/>
        </p:nvSpPr>
        <p:spPr>
          <a:xfrm>
            <a:off x="8158277" y="1783080"/>
            <a:ext cx="3484778" cy="1481328"/>
          </a:xfrm>
          <a:prstGeom prst="roundRect">
            <a:avLst>
              <a:gd name="adj" fmla="val 4938"/>
            </a:avLst>
          </a:prstGeom>
          <a:solidFill>
            <a:srgbClr val="F3F6FB"/>
          </a:solidFill>
          <a:ln w="12700">
            <a:solidFill>
              <a:srgbClr val="E4EAF3"/>
            </a:solidFill>
            <a:prstDash val="solid"/>
          </a:ln>
          <a:effectLst>
            <a:outerShdw sx="100000" sy="100000" kx="0" ky="0" algn="bl" rotWithShape="0" blurRad="88900" dist="25400" dir="5400000">
              <a:srgbClr val="9FB0C8">
                <a:alpha val="25000"/>
              </a:srgbClr>
            </a:outerShdw>
          </a:effectLst>
        </p:spPr>
      </p:sp>
      <p:sp>
        <p:nvSpPr>
          <p:cNvPr id="14" name="Shape 12"/>
          <p:cNvSpPr/>
          <p:nvPr/>
        </p:nvSpPr>
        <p:spPr>
          <a:xfrm>
            <a:off x="8359445" y="1984248"/>
            <a:ext cx="457200" cy="457200"/>
          </a:xfrm>
          <a:prstGeom prst="ellipse">
            <a:avLst/>
          </a:prstGeom>
          <a:solidFill>
            <a:srgbClr val="1F3864"/>
          </a:solidFill>
          <a:ln/>
        </p:spPr>
      </p:sp>
      <p:sp>
        <p:nvSpPr>
          <p:cNvPr id="15" name="Text 13"/>
          <p:cNvSpPr/>
          <p:nvPr/>
        </p:nvSpPr>
        <p:spPr>
          <a:xfrm>
            <a:off x="8359445" y="19842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8935517" y="1929384"/>
            <a:ext cx="2524658" cy="1207008"/>
          </a:xfrm>
          <a:prstGeom prst="rect">
            <a:avLst/>
          </a:prstGeom>
          <a:noFill/>
          <a:ln/>
        </p:spPr>
        <p:txBody>
          <a:bodyPr wrap="square" rtlCol="0" anchor="ctr">
            <a:normAutofit/>
          </a:bodyPr>
          <a:lstStyle/>
          <a:p>
            <a:pPr indent="0" marL="0">
              <a:buNone/>
            </a:pPr>
            <a:r>
              <a:rPr lang="en-US" sz="1250" dirty="0">
                <a:solidFill>
                  <a:srgbClr val="1E2833"/>
                </a:solidFill>
                <a:latin typeface="Calibri" pitchFamily="34" charset="0"/>
                <a:ea typeface="Calibri" pitchFamily="34" charset="-122"/>
                <a:cs typeface="Calibri" pitchFamily="34" charset="-120"/>
              </a:rPr>
              <a:t>Cố vấn rà GPA / CPA thủ công để tìm sinh viên yếu</a:t>
            </a:r>
            <a:endParaRPr lang="en-US" sz="1250" dirty="0"/>
          </a:p>
        </p:txBody>
      </p:sp>
      <p:sp>
        <p:nvSpPr>
          <p:cNvPr id="17" name="Shape 15"/>
          <p:cNvSpPr/>
          <p:nvPr/>
        </p:nvSpPr>
        <p:spPr>
          <a:xfrm>
            <a:off x="548640" y="3520440"/>
            <a:ext cx="3484778" cy="1481328"/>
          </a:xfrm>
          <a:prstGeom prst="roundRect">
            <a:avLst>
              <a:gd name="adj" fmla="val 4938"/>
            </a:avLst>
          </a:prstGeom>
          <a:solidFill>
            <a:srgbClr val="F3F6FB"/>
          </a:solidFill>
          <a:ln w="12700">
            <a:solidFill>
              <a:srgbClr val="E4EAF3"/>
            </a:solidFill>
            <a:prstDash val="solid"/>
          </a:ln>
          <a:effectLst>
            <a:outerShdw sx="100000" sy="100000" kx="0" ky="0" algn="bl" rotWithShape="0" blurRad="88900" dist="25400" dir="5400000">
              <a:srgbClr val="9FB0C8">
                <a:alpha val="25000"/>
              </a:srgbClr>
            </a:outerShdw>
          </a:effectLst>
        </p:spPr>
      </p:sp>
      <p:sp>
        <p:nvSpPr>
          <p:cNvPr id="18" name="Shape 16"/>
          <p:cNvSpPr/>
          <p:nvPr/>
        </p:nvSpPr>
        <p:spPr>
          <a:xfrm>
            <a:off x="749808" y="3721608"/>
            <a:ext cx="457200" cy="457200"/>
          </a:xfrm>
          <a:prstGeom prst="ellipse">
            <a:avLst/>
          </a:prstGeom>
          <a:solidFill>
            <a:srgbClr val="1F3864"/>
          </a:solidFill>
          <a:ln/>
        </p:spPr>
      </p:sp>
      <p:sp>
        <p:nvSpPr>
          <p:cNvPr id="19" name="Text 17"/>
          <p:cNvSpPr/>
          <p:nvPr/>
        </p:nvSpPr>
        <p:spPr>
          <a:xfrm>
            <a:off x="749808" y="3721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325880" y="3666744"/>
            <a:ext cx="2524658" cy="1207008"/>
          </a:xfrm>
          <a:prstGeom prst="rect">
            <a:avLst/>
          </a:prstGeom>
          <a:noFill/>
          <a:ln/>
        </p:spPr>
        <p:txBody>
          <a:bodyPr wrap="square" rtlCol="0" anchor="ctr">
            <a:normAutofit/>
          </a:bodyPr>
          <a:lstStyle/>
          <a:p>
            <a:pPr indent="0" marL="0">
              <a:buNone/>
            </a:pPr>
            <a:r>
              <a:rPr lang="en-US" sz="1250" dirty="0">
                <a:solidFill>
                  <a:srgbClr val="1E2833"/>
                </a:solidFill>
                <a:latin typeface="Calibri" pitchFamily="34" charset="0"/>
                <a:ea typeface="Calibri" pitchFamily="34" charset="-122"/>
                <a:cs typeface="Calibri" pitchFamily="34" charset="-120"/>
              </a:rPr>
              <a:t>Chuyên cần và LMS theo dõi tách rời — thậm chí không có</a:t>
            </a:r>
            <a:endParaRPr lang="en-US" sz="1250" dirty="0"/>
          </a:p>
        </p:txBody>
      </p:sp>
      <p:sp>
        <p:nvSpPr>
          <p:cNvPr id="21" name="Shape 19"/>
          <p:cNvSpPr/>
          <p:nvPr/>
        </p:nvSpPr>
        <p:spPr>
          <a:xfrm>
            <a:off x="4353458" y="3520440"/>
            <a:ext cx="3484778" cy="1481328"/>
          </a:xfrm>
          <a:prstGeom prst="roundRect">
            <a:avLst>
              <a:gd name="adj" fmla="val 4938"/>
            </a:avLst>
          </a:prstGeom>
          <a:solidFill>
            <a:srgbClr val="F3F6FB"/>
          </a:solidFill>
          <a:ln w="12700">
            <a:solidFill>
              <a:srgbClr val="E4EAF3"/>
            </a:solidFill>
            <a:prstDash val="solid"/>
          </a:ln>
          <a:effectLst>
            <a:outerShdw sx="100000" sy="100000" kx="0" ky="0" algn="bl" rotWithShape="0" blurRad="88900" dist="25400" dir="5400000">
              <a:srgbClr val="9FB0C8">
                <a:alpha val="25000"/>
              </a:srgbClr>
            </a:outerShdw>
          </a:effectLst>
        </p:spPr>
      </p:sp>
      <p:sp>
        <p:nvSpPr>
          <p:cNvPr id="22" name="Shape 20"/>
          <p:cNvSpPr/>
          <p:nvPr/>
        </p:nvSpPr>
        <p:spPr>
          <a:xfrm>
            <a:off x="4554626" y="3721608"/>
            <a:ext cx="457200" cy="457200"/>
          </a:xfrm>
          <a:prstGeom prst="ellipse">
            <a:avLst/>
          </a:prstGeom>
          <a:solidFill>
            <a:srgbClr val="1F3864"/>
          </a:solidFill>
          <a:ln/>
        </p:spPr>
      </p:sp>
      <p:sp>
        <p:nvSpPr>
          <p:cNvPr id="23" name="Text 21"/>
          <p:cNvSpPr/>
          <p:nvPr/>
        </p:nvSpPr>
        <p:spPr>
          <a:xfrm>
            <a:off x="4554626" y="3721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5130698" y="3666744"/>
            <a:ext cx="2524658" cy="1207008"/>
          </a:xfrm>
          <a:prstGeom prst="rect">
            <a:avLst/>
          </a:prstGeom>
          <a:noFill/>
          <a:ln/>
        </p:spPr>
        <p:txBody>
          <a:bodyPr wrap="square" rtlCol="0" anchor="ctr">
            <a:normAutofit/>
          </a:bodyPr>
          <a:lstStyle/>
          <a:p>
            <a:pPr indent="0" marL="0">
              <a:buNone/>
            </a:pPr>
            <a:r>
              <a:rPr lang="en-US" sz="1250" dirty="0">
                <a:solidFill>
                  <a:srgbClr val="1E2833"/>
                </a:solidFill>
                <a:latin typeface="Calibri" pitchFamily="34" charset="0"/>
                <a:ea typeface="Calibri" pitchFamily="34" charset="-122"/>
                <a:cs typeface="Calibri" pitchFamily="34" charset="-120"/>
              </a:rPr>
              <a:t>Cố vấn liên hệ sinh viên một cách tùy hứng</a:t>
            </a:r>
            <a:endParaRPr lang="en-US" sz="1250" dirty="0"/>
          </a:p>
        </p:txBody>
      </p:sp>
      <p:sp>
        <p:nvSpPr>
          <p:cNvPr id="25" name="Shape 23"/>
          <p:cNvSpPr/>
          <p:nvPr/>
        </p:nvSpPr>
        <p:spPr>
          <a:xfrm>
            <a:off x="8158277" y="3520440"/>
            <a:ext cx="3484778" cy="1481328"/>
          </a:xfrm>
          <a:prstGeom prst="roundRect">
            <a:avLst>
              <a:gd name="adj" fmla="val 4938"/>
            </a:avLst>
          </a:prstGeom>
          <a:solidFill>
            <a:srgbClr val="F3F6FB"/>
          </a:solidFill>
          <a:ln w="12700">
            <a:solidFill>
              <a:srgbClr val="E4EAF3"/>
            </a:solidFill>
            <a:prstDash val="solid"/>
          </a:ln>
          <a:effectLst>
            <a:outerShdw sx="100000" sy="100000" kx="0" ky="0" algn="bl" rotWithShape="0" blurRad="88900" dist="25400" dir="5400000">
              <a:srgbClr val="9FB0C8">
                <a:alpha val="25000"/>
              </a:srgbClr>
            </a:outerShdw>
          </a:effectLst>
        </p:spPr>
      </p:sp>
      <p:sp>
        <p:nvSpPr>
          <p:cNvPr id="26" name="Shape 24"/>
          <p:cNvSpPr/>
          <p:nvPr/>
        </p:nvSpPr>
        <p:spPr>
          <a:xfrm>
            <a:off x="8359445" y="3721608"/>
            <a:ext cx="457200" cy="457200"/>
          </a:xfrm>
          <a:prstGeom prst="ellipse">
            <a:avLst/>
          </a:prstGeom>
          <a:solidFill>
            <a:srgbClr val="1F3864"/>
          </a:solidFill>
          <a:ln/>
        </p:spPr>
      </p:sp>
      <p:sp>
        <p:nvSpPr>
          <p:cNvPr id="27" name="Text 25"/>
          <p:cNvSpPr/>
          <p:nvPr/>
        </p:nvSpPr>
        <p:spPr>
          <a:xfrm>
            <a:off x="8359445" y="3721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8935517" y="3666744"/>
            <a:ext cx="2524658" cy="1207008"/>
          </a:xfrm>
          <a:prstGeom prst="rect">
            <a:avLst/>
          </a:prstGeom>
          <a:noFill/>
          <a:ln/>
        </p:spPr>
        <p:txBody>
          <a:bodyPr wrap="square" rtlCol="0" anchor="ctr">
            <a:normAutofit/>
          </a:bodyPr>
          <a:lstStyle/>
          <a:p>
            <a:pPr indent="0" marL="0">
              <a:buNone/>
            </a:pPr>
            <a:r>
              <a:rPr lang="en-US" sz="1250" dirty="0">
                <a:solidFill>
                  <a:srgbClr val="1E2833"/>
                </a:solidFill>
                <a:latin typeface="Calibri" pitchFamily="34" charset="0"/>
                <a:ea typeface="Calibri" pitchFamily="34" charset="-122"/>
                <a:cs typeface="Calibri" pitchFamily="34" charset="-120"/>
              </a:rPr>
              <a:t>Can thiệp ghi vào sổ tay cá nhân</a:t>
            </a:r>
            <a:endParaRPr lang="en-US" sz="1250" dirty="0"/>
          </a:p>
        </p:txBody>
      </p:sp>
      <p:sp>
        <p:nvSpPr>
          <p:cNvPr id="29" name="Shape 27"/>
          <p:cNvSpPr/>
          <p:nvPr/>
        </p:nvSpPr>
        <p:spPr>
          <a:xfrm>
            <a:off x="548640" y="5440680"/>
            <a:ext cx="11094415" cy="658368"/>
          </a:xfrm>
          <a:prstGeom prst="roundRect">
            <a:avLst>
              <a:gd name="adj" fmla="val 8333"/>
            </a:avLst>
          </a:prstGeom>
          <a:solidFill>
            <a:srgbClr val="FBEFD8"/>
          </a:solidFill>
          <a:ln/>
        </p:spPr>
      </p:sp>
      <p:sp>
        <p:nvSpPr>
          <p:cNvPr id="30" name="Text 28"/>
          <p:cNvSpPr/>
          <p:nvPr/>
        </p:nvSpPr>
        <p:spPr>
          <a:xfrm>
            <a:off x="822960" y="5440680"/>
            <a:ext cx="10545775" cy="658368"/>
          </a:xfrm>
          <a:prstGeom prst="rect">
            <a:avLst/>
          </a:prstGeom>
          <a:noFill/>
          <a:ln/>
        </p:spPr>
        <p:txBody>
          <a:bodyPr wrap="square" rtlCol="0" anchor="ctr"/>
          <a:lstStyle/>
          <a:p>
            <a:pPr indent="0" marL="0">
              <a:buNone/>
            </a:pPr>
            <a:r>
              <a:rPr lang="en-US" sz="1500" b="1" dirty="0">
                <a:solidFill>
                  <a:srgbClr val="8A5A00"/>
                </a:solidFill>
                <a:latin typeface="Calibri" pitchFamily="34" charset="0"/>
                <a:ea typeface="Calibri" pitchFamily="34" charset="-122"/>
                <a:cs typeface="Calibri" pitchFamily="34" charset="-120"/>
              </a:rPr>
              <a:t>Thủ công  ·  rời rạc  ·  dồn về cuối kỳ</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C77D00"/>
                </a:solidFill>
                <a:latin typeface="Calibri" pitchFamily="34" charset="0"/>
                <a:ea typeface="Calibri" pitchFamily="34" charset="-122"/>
                <a:cs typeface="Calibri" pitchFamily="34" charset="-120"/>
              </a:rPr>
              <a:t>ACTIVITY 2</a:t>
            </a:r>
            <a:endParaRPr lang="en-US" sz="1200" dirty="0"/>
          </a:p>
        </p:txBody>
      </p:sp>
      <p:sp>
        <p:nvSpPr>
          <p:cNvPr id="3" name="Text 1"/>
          <p:cNvSpPr/>
          <p:nvPr/>
        </p:nvSpPr>
        <p:spPr>
          <a:xfrm>
            <a:off x="548640" y="676656"/>
            <a:ext cx="11094415" cy="777240"/>
          </a:xfrm>
          <a:prstGeom prst="rect">
            <a:avLst/>
          </a:prstGeom>
          <a:noFill/>
          <a:ln/>
        </p:spPr>
        <p:txBody>
          <a:bodyPr wrap="square" rtlCol="0" anchor="ctr">
            <a:normAutofit/>
          </a:bodyPr>
          <a:lstStyle/>
          <a:p>
            <a:pPr indent="0" marL="0">
              <a:buNone/>
            </a:pPr>
            <a:r>
              <a:rPr lang="en-US" sz="2900" b="1" dirty="0">
                <a:solidFill>
                  <a:srgbClr val="1F3864"/>
                </a:solidFill>
                <a:latin typeface="Cambria" pitchFamily="34" charset="0"/>
                <a:ea typeface="Cambria" pitchFamily="34" charset="-122"/>
                <a:cs typeface="Cambria" pitchFamily="34" charset="-120"/>
              </a:rPr>
              <a:t>Ba điểm nghẽn — kèm bằng chứng</a:t>
            </a:r>
            <a:endParaRPr lang="en-US" sz="2900" dirty="0"/>
          </a:p>
        </p:txBody>
      </p:sp>
      <p:sp>
        <p:nvSpPr>
          <p:cNvPr id="4" name="Text 2"/>
          <p:cNvSpPr/>
          <p:nvPr/>
        </p:nvSpPr>
        <p:spPr>
          <a:xfrm>
            <a:off x="10637215" y="6355080"/>
            <a:ext cx="1097280" cy="274320"/>
          </a:xfrm>
          <a:prstGeom prst="rect">
            <a:avLst/>
          </a:prstGeom>
          <a:noFill/>
          <a:ln/>
        </p:spPr>
        <p:txBody>
          <a:bodyPr wrap="square" rtlCol="0" anchor="ctr"/>
          <a:lstStyle/>
          <a:p>
            <a:pPr algn="r" indent="0" marL="0">
              <a:buNone/>
            </a:pPr>
            <a:r>
              <a:rPr lang="en-US" sz="1000" b="1" dirty="0">
                <a:solidFill>
                  <a:srgbClr val="1F3864"/>
                </a:solidFill>
                <a:latin typeface="Calibri" pitchFamily="34" charset="0"/>
                <a:ea typeface="Calibri" pitchFamily="34" charset="-122"/>
                <a:cs typeface="Calibri" pitchFamily="34" charset="-120"/>
              </a:rPr>
              <a:t>04</a:t>
            </a:r>
            <a:pPr algn="r" indent="0" marL="0">
              <a:buNone/>
            </a:pPr>
            <a:r>
              <a:rPr lang="en-US" sz="1000" dirty="0">
                <a:solidFill>
                  <a:srgbClr val="5B6B7F"/>
                </a:solidFill>
                <a:latin typeface="Calibri" pitchFamily="34" charset="0"/>
                <a:ea typeface="Calibri" pitchFamily="34" charset="-122"/>
                <a:cs typeface="Calibri" pitchFamily="34" charset="-120"/>
              </a:rPr>
              <a:t>  /  08</a:t>
            </a:r>
            <a:endParaRPr lang="en-US" sz="1000" dirty="0"/>
          </a:p>
        </p:txBody>
      </p:sp>
      <p:sp>
        <p:nvSpPr>
          <p:cNvPr id="5" name="Shape 3"/>
          <p:cNvSpPr/>
          <p:nvPr/>
        </p:nvSpPr>
        <p:spPr>
          <a:xfrm>
            <a:off x="548640" y="1783080"/>
            <a:ext cx="3454298" cy="3246120"/>
          </a:xfrm>
          <a:prstGeom prst="roundRect">
            <a:avLst>
              <a:gd name="adj" fmla="val 2254"/>
            </a:avLst>
          </a:prstGeom>
          <a:solidFill>
            <a:srgbClr val="F3F6FB"/>
          </a:solidFill>
          <a:ln w="12700">
            <a:solidFill>
              <a:srgbClr val="E4EAF3"/>
            </a:solidFill>
            <a:prstDash val="solid"/>
          </a:ln>
          <a:effectLst>
            <a:outerShdw sx="100000" sy="100000" kx="0" ky="0" algn="bl" rotWithShape="0" blurRad="101600" dist="25400" dir="5400000">
              <a:srgbClr val="9FB0C8">
                <a:alpha val="28000"/>
              </a:srgbClr>
            </a:outerShdw>
          </a:effectLst>
        </p:spPr>
      </p:sp>
      <p:sp>
        <p:nvSpPr>
          <p:cNvPr id="6" name="Shape 4"/>
          <p:cNvSpPr/>
          <p:nvPr/>
        </p:nvSpPr>
        <p:spPr>
          <a:xfrm>
            <a:off x="841248" y="2075688"/>
            <a:ext cx="566928" cy="566928"/>
          </a:xfrm>
          <a:prstGeom prst="ellipse">
            <a:avLst/>
          </a:prstGeom>
          <a:solidFill>
            <a:srgbClr val="C77D00"/>
          </a:solidFill>
          <a:ln/>
        </p:spPr>
      </p:sp>
      <p:sp>
        <p:nvSpPr>
          <p:cNvPr id="7" name="Text 5"/>
          <p:cNvSpPr/>
          <p:nvPr/>
        </p:nvSpPr>
        <p:spPr>
          <a:xfrm>
            <a:off x="841248" y="207568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841248" y="2834640"/>
            <a:ext cx="2869082" cy="868680"/>
          </a:xfrm>
          <a:prstGeom prst="rect">
            <a:avLst/>
          </a:prstGeom>
          <a:noFill/>
          <a:ln/>
        </p:spPr>
        <p:txBody>
          <a:bodyPr wrap="square" rtlCol="0" anchor="t">
            <a:normAutofit/>
          </a:bodyPr>
          <a:lstStyle/>
          <a:p>
            <a:pPr indent="0" marL="0">
              <a:buNone/>
            </a:pPr>
            <a:r>
              <a:rPr lang="en-US" sz="1800" b="1" dirty="0">
                <a:solidFill>
                  <a:srgbClr val="1F3864"/>
                </a:solidFill>
                <a:latin typeface="Cambria" pitchFamily="34" charset="0"/>
                <a:ea typeface="Cambria" pitchFamily="34" charset="-122"/>
                <a:cs typeface="Cambria" pitchFamily="34" charset="-120"/>
              </a:rPr>
              <a:t>Phát hiện muộn</a:t>
            </a:r>
            <a:endParaRPr lang="en-US" sz="1800" dirty="0"/>
          </a:p>
        </p:txBody>
      </p:sp>
      <p:sp>
        <p:nvSpPr>
          <p:cNvPr id="9" name="Text 7"/>
          <p:cNvSpPr/>
          <p:nvPr/>
        </p:nvSpPr>
        <p:spPr>
          <a:xfrm>
            <a:off x="841248" y="3703320"/>
            <a:ext cx="2869082" cy="1143000"/>
          </a:xfrm>
          <a:prstGeom prst="rect">
            <a:avLst/>
          </a:prstGeom>
          <a:noFill/>
          <a:ln/>
        </p:spPr>
        <p:txBody>
          <a:bodyPr wrap="square" rtlCol="0" anchor="t">
            <a:normAutofit/>
          </a:bodyPr>
          <a:lstStyle/>
          <a:p>
            <a:pPr indent="0" marL="0">
              <a:lnSpc>
                <a:spcPct val="105000"/>
              </a:lnSpc>
              <a:buNone/>
            </a:pPr>
            <a:r>
              <a:rPr lang="en-US" sz="1250" dirty="0">
                <a:solidFill>
                  <a:srgbClr val="5B6B7F"/>
                </a:solidFill>
                <a:latin typeface="Calibri" pitchFamily="34" charset="0"/>
                <a:ea typeface="Calibri" pitchFamily="34" charset="-122"/>
                <a:cs typeface="Calibri" pitchFamily="34" charset="-120"/>
              </a:rPr>
              <a:t>Bằng chứng: khoảng cách từ lúc có nguy cơ đến khi được cố vấn liên hệ</a:t>
            </a:r>
            <a:endParaRPr lang="en-US" sz="1250" dirty="0"/>
          </a:p>
        </p:txBody>
      </p:sp>
      <p:sp>
        <p:nvSpPr>
          <p:cNvPr id="10" name="Shape 8"/>
          <p:cNvSpPr/>
          <p:nvPr/>
        </p:nvSpPr>
        <p:spPr>
          <a:xfrm>
            <a:off x="4368698" y="1783080"/>
            <a:ext cx="3454298" cy="3246120"/>
          </a:xfrm>
          <a:prstGeom prst="roundRect">
            <a:avLst>
              <a:gd name="adj" fmla="val 2254"/>
            </a:avLst>
          </a:prstGeom>
          <a:solidFill>
            <a:srgbClr val="F3F6FB"/>
          </a:solidFill>
          <a:ln w="12700">
            <a:solidFill>
              <a:srgbClr val="E4EAF3"/>
            </a:solidFill>
            <a:prstDash val="solid"/>
          </a:ln>
          <a:effectLst>
            <a:outerShdw sx="100000" sy="100000" kx="0" ky="0" algn="bl" rotWithShape="0" blurRad="101600" dist="25400" dir="5400000">
              <a:srgbClr val="9FB0C8">
                <a:alpha val="28000"/>
              </a:srgbClr>
            </a:outerShdw>
          </a:effectLst>
        </p:spPr>
      </p:sp>
      <p:sp>
        <p:nvSpPr>
          <p:cNvPr id="11" name="Shape 9"/>
          <p:cNvSpPr/>
          <p:nvPr/>
        </p:nvSpPr>
        <p:spPr>
          <a:xfrm>
            <a:off x="4661306" y="2075688"/>
            <a:ext cx="566928" cy="566928"/>
          </a:xfrm>
          <a:prstGeom prst="ellipse">
            <a:avLst/>
          </a:prstGeom>
          <a:solidFill>
            <a:srgbClr val="C77D00"/>
          </a:solidFill>
          <a:ln/>
        </p:spPr>
      </p:sp>
      <p:sp>
        <p:nvSpPr>
          <p:cNvPr id="12" name="Text 10"/>
          <p:cNvSpPr/>
          <p:nvPr/>
        </p:nvSpPr>
        <p:spPr>
          <a:xfrm>
            <a:off x="4661306" y="207568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661306" y="2834640"/>
            <a:ext cx="2869082" cy="868680"/>
          </a:xfrm>
          <a:prstGeom prst="rect">
            <a:avLst/>
          </a:prstGeom>
          <a:noFill/>
          <a:ln/>
        </p:spPr>
        <p:txBody>
          <a:bodyPr wrap="square" rtlCol="0" anchor="t">
            <a:normAutofit/>
          </a:bodyPr>
          <a:lstStyle/>
          <a:p>
            <a:pPr indent="0" marL="0">
              <a:buNone/>
            </a:pPr>
            <a:r>
              <a:rPr lang="en-US" sz="1800" b="1" dirty="0">
                <a:solidFill>
                  <a:srgbClr val="1F3864"/>
                </a:solidFill>
                <a:latin typeface="Cambria" pitchFamily="34" charset="0"/>
                <a:ea typeface="Cambria" pitchFamily="34" charset="-122"/>
                <a:cs typeface="Cambria" pitchFamily="34" charset="-120"/>
              </a:rPr>
              <a:t>Phân tích thủ công một chiều</a:t>
            </a:r>
            <a:endParaRPr lang="en-US" sz="1800" dirty="0"/>
          </a:p>
        </p:txBody>
      </p:sp>
      <p:sp>
        <p:nvSpPr>
          <p:cNvPr id="14" name="Text 12"/>
          <p:cNvSpPr/>
          <p:nvPr/>
        </p:nvSpPr>
        <p:spPr>
          <a:xfrm>
            <a:off x="4661306" y="3703320"/>
            <a:ext cx="2869082" cy="1143000"/>
          </a:xfrm>
          <a:prstGeom prst="rect">
            <a:avLst/>
          </a:prstGeom>
          <a:noFill/>
          <a:ln/>
        </p:spPr>
        <p:txBody>
          <a:bodyPr wrap="square" rtlCol="0" anchor="t">
            <a:normAutofit/>
          </a:bodyPr>
          <a:lstStyle/>
          <a:p>
            <a:pPr indent="0" marL="0">
              <a:lnSpc>
                <a:spcPct val="105000"/>
              </a:lnSpc>
              <a:buNone/>
            </a:pPr>
            <a:r>
              <a:rPr lang="en-US" sz="1250" dirty="0">
                <a:solidFill>
                  <a:srgbClr val="5B6B7F"/>
                </a:solidFill>
                <a:latin typeface="Calibri" pitchFamily="34" charset="0"/>
                <a:ea typeface="Calibri" pitchFamily="34" charset="-122"/>
                <a:cs typeface="Calibri" pitchFamily="34" charset="-120"/>
              </a:rPr>
              <a:t>Bằng chứng: sinh viên nguy cơ bị bỏ sót khi chỉ dựa vào GPA</a:t>
            </a:r>
            <a:endParaRPr lang="en-US" sz="1250" dirty="0"/>
          </a:p>
        </p:txBody>
      </p:sp>
      <p:sp>
        <p:nvSpPr>
          <p:cNvPr id="15" name="Shape 13"/>
          <p:cNvSpPr/>
          <p:nvPr/>
        </p:nvSpPr>
        <p:spPr>
          <a:xfrm>
            <a:off x="8188757" y="1783080"/>
            <a:ext cx="3454298" cy="3246120"/>
          </a:xfrm>
          <a:prstGeom prst="roundRect">
            <a:avLst>
              <a:gd name="adj" fmla="val 2254"/>
            </a:avLst>
          </a:prstGeom>
          <a:solidFill>
            <a:srgbClr val="F3F6FB"/>
          </a:solidFill>
          <a:ln w="12700">
            <a:solidFill>
              <a:srgbClr val="E4EAF3"/>
            </a:solidFill>
            <a:prstDash val="solid"/>
          </a:ln>
          <a:effectLst>
            <a:outerShdw sx="100000" sy="100000" kx="0" ky="0" algn="bl" rotWithShape="0" blurRad="101600" dist="25400" dir="5400000">
              <a:srgbClr val="9FB0C8">
                <a:alpha val="28000"/>
              </a:srgbClr>
            </a:outerShdw>
          </a:effectLst>
        </p:spPr>
      </p:sp>
      <p:sp>
        <p:nvSpPr>
          <p:cNvPr id="16" name="Shape 14"/>
          <p:cNvSpPr/>
          <p:nvPr/>
        </p:nvSpPr>
        <p:spPr>
          <a:xfrm>
            <a:off x="8481365" y="2075688"/>
            <a:ext cx="566928" cy="566928"/>
          </a:xfrm>
          <a:prstGeom prst="ellipse">
            <a:avLst/>
          </a:prstGeom>
          <a:solidFill>
            <a:srgbClr val="C77D00"/>
          </a:solidFill>
          <a:ln/>
        </p:spPr>
      </p:sp>
      <p:sp>
        <p:nvSpPr>
          <p:cNvPr id="17" name="Text 15"/>
          <p:cNvSpPr/>
          <p:nvPr/>
        </p:nvSpPr>
        <p:spPr>
          <a:xfrm>
            <a:off x="8481365" y="207568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8481365" y="2834640"/>
            <a:ext cx="2869082" cy="868680"/>
          </a:xfrm>
          <a:prstGeom prst="rect">
            <a:avLst/>
          </a:prstGeom>
          <a:noFill/>
          <a:ln/>
        </p:spPr>
        <p:txBody>
          <a:bodyPr wrap="square" rtlCol="0" anchor="t">
            <a:normAutofit/>
          </a:bodyPr>
          <a:lstStyle/>
          <a:p>
            <a:pPr indent="0" marL="0">
              <a:buNone/>
            </a:pPr>
            <a:r>
              <a:rPr lang="en-US" sz="1800" b="1" dirty="0">
                <a:solidFill>
                  <a:srgbClr val="1F3864"/>
                </a:solidFill>
                <a:latin typeface="Cambria" pitchFamily="34" charset="0"/>
                <a:ea typeface="Cambria" pitchFamily="34" charset="-122"/>
                <a:cs typeface="Cambria" pitchFamily="34" charset="-120"/>
              </a:rPr>
              <a:t>Không theo dõi can thiệp</a:t>
            </a:r>
            <a:endParaRPr lang="en-US" sz="1800" dirty="0"/>
          </a:p>
        </p:txBody>
      </p:sp>
      <p:sp>
        <p:nvSpPr>
          <p:cNvPr id="19" name="Text 17"/>
          <p:cNvSpPr/>
          <p:nvPr/>
        </p:nvSpPr>
        <p:spPr>
          <a:xfrm>
            <a:off x="8481365" y="3703320"/>
            <a:ext cx="2869082" cy="1143000"/>
          </a:xfrm>
          <a:prstGeom prst="rect">
            <a:avLst/>
          </a:prstGeom>
          <a:noFill/>
          <a:ln/>
        </p:spPr>
        <p:txBody>
          <a:bodyPr wrap="square" rtlCol="0" anchor="t">
            <a:normAutofit/>
          </a:bodyPr>
          <a:lstStyle/>
          <a:p>
            <a:pPr indent="0" marL="0">
              <a:lnSpc>
                <a:spcPct val="105000"/>
              </a:lnSpc>
              <a:buNone/>
            </a:pPr>
            <a:r>
              <a:rPr lang="en-US" sz="1250" dirty="0">
                <a:solidFill>
                  <a:srgbClr val="5B6B7F"/>
                </a:solidFill>
                <a:latin typeface="Calibri" pitchFamily="34" charset="0"/>
                <a:ea typeface="Calibri" pitchFamily="34" charset="-122"/>
                <a:cs typeface="Calibri" pitchFamily="34" charset="-120"/>
              </a:rPr>
              <a:t>Bằng chứng: tỉ lệ can thiệp có ghi chép theo dõi</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C77D00"/>
                </a:solidFill>
                <a:latin typeface="Calibri" pitchFamily="34" charset="0"/>
                <a:ea typeface="Calibri" pitchFamily="34" charset="-122"/>
                <a:cs typeface="Calibri" pitchFamily="34" charset="-120"/>
              </a:rPr>
              <a:t>ACTIVITY 3</a:t>
            </a:r>
            <a:endParaRPr lang="en-US" sz="1200" dirty="0"/>
          </a:p>
        </p:txBody>
      </p:sp>
      <p:sp>
        <p:nvSpPr>
          <p:cNvPr id="3" name="Text 1"/>
          <p:cNvSpPr/>
          <p:nvPr/>
        </p:nvSpPr>
        <p:spPr>
          <a:xfrm>
            <a:off x="548640" y="676656"/>
            <a:ext cx="11094415" cy="777240"/>
          </a:xfrm>
          <a:prstGeom prst="rect">
            <a:avLst/>
          </a:prstGeom>
          <a:noFill/>
          <a:ln/>
        </p:spPr>
        <p:txBody>
          <a:bodyPr wrap="square" rtlCol="0" anchor="ctr">
            <a:normAutofit/>
          </a:bodyPr>
          <a:lstStyle/>
          <a:p>
            <a:pPr indent="0" marL="0">
              <a:buNone/>
            </a:pPr>
            <a:r>
              <a:rPr lang="en-US" sz="2900" b="1" dirty="0">
                <a:solidFill>
                  <a:srgbClr val="1F3864"/>
                </a:solidFill>
                <a:latin typeface="Cambria" pitchFamily="34" charset="0"/>
                <a:ea typeface="Cambria" pitchFamily="34" charset="-122"/>
                <a:cs typeface="Cambria" pitchFamily="34" charset="-120"/>
              </a:rPr>
              <a:t>Nguyên nhân gốc — 5 Whys</a:t>
            </a:r>
            <a:endParaRPr lang="en-US" sz="2900" dirty="0"/>
          </a:p>
        </p:txBody>
      </p:sp>
      <p:sp>
        <p:nvSpPr>
          <p:cNvPr id="4" name="Text 2"/>
          <p:cNvSpPr/>
          <p:nvPr/>
        </p:nvSpPr>
        <p:spPr>
          <a:xfrm>
            <a:off x="10637215" y="6355080"/>
            <a:ext cx="1097280" cy="274320"/>
          </a:xfrm>
          <a:prstGeom prst="rect">
            <a:avLst/>
          </a:prstGeom>
          <a:noFill/>
          <a:ln/>
        </p:spPr>
        <p:txBody>
          <a:bodyPr wrap="square" rtlCol="0" anchor="ctr"/>
          <a:lstStyle/>
          <a:p>
            <a:pPr algn="r" indent="0" marL="0">
              <a:buNone/>
            </a:pPr>
            <a:r>
              <a:rPr lang="en-US" sz="1000" b="1" dirty="0">
                <a:solidFill>
                  <a:srgbClr val="1F3864"/>
                </a:solidFill>
                <a:latin typeface="Calibri" pitchFamily="34" charset="0"/>
                <a:ea typeface="Calibri" pitchFamily="34" charset="-122"/>
                <a:cs typeface="Calibri" pitchFamily="34" charset="-120"/>
              </a:rPr>
              <a:t>05</a:t>
            </a:r>
            <a:pPr algn="r" indent="0" marL="0">
              <a:buNone/>
            </a:pPr>
            <a:r>
              <a:rPr lang="en-US" sz="1000" dirty="0">
                <a:solidFill>
                  <a:srgbClr val="5B6B7F"/>
                </a:solidFill>
                <a:latin typeface="Calibri" pitchFamily="34" charset="0"/>
                <a:ea typeface="Calibri" pitchFamily="34" charset="-122"/>
                <a:cs typeface="Calibri" pitchFamily="34" charset="-120"/>
              </a:rPr>
              <a:t>  /  08</a:t>
            </a:r>
            <a:endParaRPr lang="en-US" sz="1000" dirty="0"/>
          </a:p>
        </p:txBody>
      </p:sp>
      <p:sp>
        <p:nvSpPr>
          <p:cNvPr id="5" name="Shape 3"/>
          <p:cNvSpPr/>
          <p:nvPr/>
        </p:nvSpPr>
        <p:spPr>
          <a:xfrm>
            <a:off x="548640" y="1737360"/>
            <a:ext cx="457200" cy="457200"/>
          </a:xfrm>
          <a:prstGeom prst="ellipse">
            <a:avLst/>
          </a:prstGeom>
          <a:solidFill>
            <a:srgbClr val="1F3864"/>
          </a:solidFill>
          <a:ln/>
        </p:spPr>
      </p:sp>
      <p:sp>
        <p:nvSpPr>
          <p:cNvPr id="6" name="Text 4"/>
          <p:cNvSpPr/>
          <p:nvPr/>
        </p:nvSpPr>
        <p:spPr>
          <a:xfrm>
            <a:off x="548640" y="1737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737360"/>
            <a:ext cx="10454335" cy="50292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Vì sao phát hiện muộn?  →  Cố vấn chỉ thấy kết quả vào cuối kỳ</a:t>
            </a:r>
            <a:endParaRPr lang="en-US" sz="1400" dirty="0"/>
          </a:p>
        </p:txBody>
      </p:sp>
      <p:sp>
        <p:nvSpPr>
          <p:cNvPr id="8" name="Shape 6"/>
          <p:cNvSpPr/>
          <p:nvPr/>
        </p:nvSpPr>
        <p:spPr>
          <a:xfrm>
            <a:off x="548640" y="2395728"/>
            <a:ext cx="457200" cy="457200"/>
          </a:xfrm>
          <a:prstGeom prst="ellipse">
            <a:avLst/>
          </a:prstGeom>
          <a:solidFill>
            <a:srgbClr val="1F3864"/>
          </a:solidFill>
          <a:ln/>
        </p:spPr>
      </p:sp>
      <p:sp>
        <p:nvSpPr>
          <p:cNvPr id="9" name="Text 7"/>
          <p:cNvSpPr/>
          <p:nvPr/>
        </p:nvSpPr>
        <p:spPr>
          <a:xfrm>
            <a:off x="548640" y="23957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88720" y="2395728"/>
            <a:ext cx="10454335" cy="50292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Vì sao?  →  Điểm, chuyên cần, LMS ở các file thủ công riêng lẻ, tổng hợp muộn</a:t>
            </a:r>
            <a:endParaRPr lang="en-US" sz="1400" dirty="0"/>
          </a:p>
        </p:txBody>
      </p:sp>
      <p:sp>
        <p:nvSpPr>
          <p:cNvPr id="11" name="Shape 9"/>
          <p:cNvSpPr/>
          <p:nvPr/>
        </p:nvSpPr>
        <p:spPr>
          <a:xfrm>
            <a:off x="548640" y="3054096"/>
            <a:ext cx="457200" cy="457200"/>
          </a:xfrm>
          <a:prstGeom prst="ellipse">
            <a:avLst/>
          </a:prstGeom>
          <a:solidFill>
            <a:srgbClr val="1F3864"/>
          </a:solidFill>
          <a:ln/>
        </p:spPr>
      </p:sp>
      <p:sp>
        <p:nvSpPr>
          <p:cNvPr id="12" name="Text 10"/>
          <p:cNvSpPr/>
          <p:nvPr/>
        </p:nvSpPr>
        <p:spPr>
          <a:xfrm>
            <a:off x="548640"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88720" y="3054096"/>
            <a:ext cx="10454335" cy="50292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Vì sao?  →  Không có góc nhìn chung, cập nhật liên tục</a:t>
            </a:r>
            <a:endParaRPr lang="en-US" sz="1400" dirty="0"/>
          </a:p>
        </p:txBody>
      </p:sp>
      <p:sp>
        <p:nvSpPr>
          <p:cNvPr id="14" name="Shape 12"/>
          <p:cNvSpPr/>
          <p:nvPr/>
        </p:nvSpPr>
        <p:spPr>
          <a:xfrm>
            <a:off x="548640" y="3712464"/>
            <a:ext cx="457200" cy="457200"/>
          </a:xfrm>
          <a:prstGeom prst="ellipse">
            <a:avLst/>
          </a:prstGeom>
          <a:solidFill>
            <a:srgbClr val="1F3864"/>
          </a:solidFill>
          <a:ln/>
        </p:spPr>
      </p:sp>
      <p:sp>
        <p:nvSpPr>
          <p:cNvPr id="15" name="Text 13"/>
          <p:cNvSpPr/>
          <p:nvPr/>
        </p:nvSpPr>
        <p:spPr>
          <a:xfrm>
            <a:off x="548640" y="371246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188720" y="3712464"/>
            <a:ext cx="10454335" cy="50292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Vì sao?  →  Không có quy tắc giải thích được để gộp chỉ số; không có cảnh báo</a:t>
            </a:r>
            <a:endParaRPr lang="en-US" sz="1400" dirty="0"/>
          </a:p>
        </p:txBody>
      </p:sp>
      <p:sp>
        <p:nvSpPr>
          <p:cNvPr id="17" name="Shape 15"/>
          <p:cNvSpPr/>
          <p:nvPr/>
        </p:nvSpPr>
        <p:spPr>
          <a:xfrm>
            <a:off x="548640" y="4370832"/>
            <a:ext cx="457200" cy="457200"/>
          </a:xfrm>
          <a:prstGeom prst="ellipse">
            <a:avLst/>
          </a:prstGeom>
          <a:solidFill>
            <a:srgbClr val="C77D00"/>
          </a:solidFill>
          <a:ln/>
        </p:spPr>
      </p:sp>
      <p:sp>
        <p:nvSpPr>
          <p:cNvPr id="18" name="Text 16"/>
          <p:cNvSpPr/>
          <p:nvPr/>
        </p:nvSpPr>
        <p:spPr>
          <a:xfrm>
            <a:off x="548640" y="43708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p:nvPr/>
        </p:nvSpPr>
        <p:spPr>
          <a:xfrm>
            <a:off x="1188720" y="4370832"/>
            <a:ext cx="10454335" cy="50292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Vì sao?  →  Quy trình thiết kế cho báo cáo cuối kỳ, không phải cảnh báo sớm</a:t>
            </a:r>
            <a:endParaRPr lang="en-US" sz="1400" dirty="0"/>
          </a:p>
        </p:txBody>
      </p:sp>
      <p:sp>
        <p:nvSpPr>
          <p:cNvPr id="20" name="Shape 18"/>
          <p:cNvSpPr/>
          <p:nvPr/>
        </p:nvSpPr>
        <p:spPr>
          <a:xfrm>
            <a:off x="548640" y="5230368"/>
            <a:ext cx="11094415" cy="896112"/>
          </a:xfrm>
          <a:prstGeom prst="roundRect">
            <a:avLst>
              <a:gd name="adj" fmla="val 8163"/>
            </a:avLst>
          </a:prstGeom>
          <a:solidFill>
            <a:srgbClr val="1F3864"/>
          </a:solidFill>
          <a:ln/>
        </p:spPr>
      </p:sp>
      <p:sp>
        <p:nvSpPr>
          <p:cNvPr id="21" name="Text 19"/>
          <p:cNvSpPr/>
          <p:nvPr/>
        </p:nvSpPr>
        <p:spPr>
          <a:xfrm>
            <a:off x="868680" y="5230368"/>
            <a:ext cx="10454335" cy="896112"/>
          </a:xfrm>
          <a:prstGeom prst="rect">
            <a:avLst/>
          </a:prstGeom>
          <a:noFill/>
          <a:ln/>
        </p:spPr>
        <p:txBody>
          <a:bodyPr wrap="square"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Nguyên nhân gốc: khoảng trống về quy trình và thông tin — không đơn thuần là “thiếu phần mềm”.</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33F"/>
        </a:solidFill>
      </p:bgPr>
    </p:bg>
    <p:spTree>
      <p:nvGrpSpPr>
        <p:cNvPr id="1" name=""/>
        <p:cNvGrpSpPr/>
        <p:nvPr/>
      </p:nvGrpSpPr>
      <p:grpSpPr>
        <a:xfrm>
          <a:off x="0" y="0"/>
          <a:ext cx="0" cy="0"/>
          <a:chOff x="0" y="0"/>
          <a:chExt cx="0" cy="0"/>
        </a:xfrm>
      </p:grpSpPr>
      <p:sp>
        <p:nvSpPr>
          <p:cNvPr id="2" name="Text 0"/>
          <p:cNvSpPr/>
          <p:nvPr/>
        </p:nvSpPr>
        <p:spPr>
          <a:xfrm>
            <a:off x="548640" y="822960"/>
            <a:ext cx="11094415" cy="365760"/>
          </a:xfrm>
          <a:prstGeom prst="rect">
            <a:avLst/>
          </a:prstGeom>
          <a:noFill/>
          <a:ln/>
        </p:spPr>
        <p:txBody>
          <a:bodyPr wrap="square" rtlCol="0" anchor="ctr"/>
          <a:lstStyle/>
          <a:p>
            <a:pPr indent="0" marL="0">
              <a:buNone/>
            </a:pPr>
            <a:r>
              <a:rPr lang="en-US" sz="1300" b="1" spc="200" kern="0" dirty="0">
                <a:solidFill>
                  <a:srgbClr val="E9A93A"/>
                </a:solidFill>
                <a:latin typeface="Calibri" pitchFamily="34" charset="0"/>
                <a:ea typeface="Calibri" pitchFamily="34" charset="-122"/>
                <a:cs typeface="Calibri" pitchFamily="34" charset="-120"/>
              </a:rPr>
              <a:t>ACTIVITY 3 · PHÁT BIỂU VẤN ĐỀ</a:t>
            </a:r>
            <a:endParaRPr lang="en-US" sz="1300" dirty="0"/>
          </a:p>
        </p:txBody>
      </p:sp>
      <p:sp>
        <p:nvSpPr>
          <p:cNvPr id="3" name="Text 1"/>
          <p:cNvSpPr/>
          <p:nvPr/>
        </p:nvSpPr>
        <p:spPr>
          <a:xfrm>
            <a:off x="502920" y="1051560"/>
            <a:ext cx="1280160" cy="914400"/>
          </a:xfrm>
          <a:prstGeom prst="rect">
            <a:avLst/>
          </a:prstGeom>
          <a:noFill/>
          <a:ln/>
        </p:spPr>
        <p:txBody>
          <a:bodyPr wrap="square" rtlCol="0" anchor="t"/>
          <a:lstStyle/>
          <a:p>
            <a:pPr indent="0" marL="0">
              <a:buNone/>
            </a:pPr>
            <a:r>
              <a:rPr lang="en-US" sz="5400" dirty="0">
                <a:solidFill>
                  <a:srgbClr val="2E4C7E"/>
                </a:solidFill>
                <a:latin typeface="Cambria" pitchFamily="34" charset="0"/>
                <a:ea typeface="Cambria" pitchFamily="34" charset="-122"/>
                <a:cs typeface="Cambria" pitchFamily="34" charset="-120"/>
              </a:rPr>
              <a:t>“</a:t>
            </a:r>
            <a:endParaRPr lang="en-US" sz="5400" dirty="0"/>
          </a:p>
        </p:txBody>
      </p:sp>
      <p:sp>
        <p:nvSpPr>
          <p:cNvPr id="4" name="Text 2"/>
          <p:cNvSpPr/>
          <p:nvPr/>
        </p:nvSpPr>
        <p:spPr>
          <a:xfrm>
            <a:off x="548640" y="2194560"/>
            <a:ext cx="11094415" cy="3063240"/>
          </a:xfrm>
          <a:prstGeom prst="rect">
            <a:avLst/>
          </a:prstGeom>
          <a:noFill/>
          <a:ln/>
        </p:spPr>
        <p:txBody>
          <a:bodyPr wrap="square" rtlCol="0" anchor="t">
            <a:normAutofit/>
          </a:bodyPr>
          <a:lstStyle/>
          <a:p>
            <a:pPr indent="0" marL="0">
              <a:lnSpc>
                <a:spcPct val="112000"/>
              </a:lnSpc>
              <a:buNone/>
            </a:pPr>
            <a:r>
              <a:rPr lang="en-US" sz="2500" dirty="0">
                <a:solidFill>
                  <a:srgbClr val="FFFFFF"/>
                </a:solidFill>
                <a:latin typeface="Cambria" pitchFamily="34" charset="0"/>
                <a:ea typeface="Cambria" pitchFamily="34" charset="-122"/>
                <a:cs typeface="Cambria" pitchFamily="34" charset="-120"/>
              </a:rPr>
              <a:t>Trong chương trình cố vấn học tập của trường, sinh viên có nguy cơ chỉ được phát hiện sau khi đã trượt vào cuối kỳ, vì các chỉ số điểm, chuyên cần và LMS bị phân tán trong các file thủ công và được rà soát quá muộn — dẫn đến bỏ lỡ can thiệp sớm, gây trượt môn đáng lẽ tránh được và làm giảm tỉ lệ giữ chân sinh viên.</a:t>
            </a:r>
            <a:endParaRPr lang="en-US" sz="2500" dirty="0"/>
          </a:p>
        </p:txBody>
      </p:sp>
      <p:sp>
        <p:nvSpPr>
          <p:cNvPr id="5" name="Text 3"/>
          <p:cNvSpPr/>
          <p:nvPr/>
        </p:nvSpPr>
        <p:spPr>
          <a:xfrm>
            <a:off x="548640" y="5440680"/>
            <a:ext cx="11094415" cy="731520"/>
          </a:xfrm>
          <a:prstGeom prst="rect">
            <a:avLst/>
          </a:prstGeom>
          <a:noFill/>
          <a:ln/>
        </p:spPr>
        <p:txBody>
          <a:bodyPr wrap="square" rtlCol="0" anchor="ctr">
            <a:normAutofit/>
          </a:bodyPr>
          <a:lstStyle/>
          <a:p>
            <a:pPr indent="0" marL="0">
              <a:buNone/>
            </a:pPr>
            <a:r>
              <a:rPr lang="en-US" sz="1500" i="1" dirty="0">
                <a:solidFill>
                  <a:srgbClr val="CFE0F5"/>
                </a:solidFill>
                <a:latin typeface="Calibri" pitchFamily="34" charset="0"/>
                <a:ea typeface="Calibri" pitchFamily="34" charset="-122"/>
                <a:cs typeface="Calibri" pitchFamily="34" charset="-120"/>
              </a:rPr>
              <a:t>Nêu rõ người dùng, bằng chứng và tác động — và không mô tả giải pháp.</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C77D00"/>
                </a:solidFill>
                <a:latin typeface="Calibri" pitchFamily="34" charset="0"/>
                <a:ea typeface="Calibri" pitchFamily="34" charset="-122"/>
                <a:cs typeface="Calibri" pitchFamily="34" charset="-120"/>
              </a:rPr>
              <a:t>BƯỚC TIẾP THEO</a:t>
            </a:r>
            <a:endParaRPr lang="en-US" sz="1200" dirty="0"/>
          </a:p>
        </p:txBody>
      </p:sp>
      <p:sp>
        <p:nvSpPr>
          <p:cNvPr id="3" name="Text 1"/>
          <p:cNvSpPr/>
          <p:nvPr/>
        </p:nvSpPr>
        <p:spPr>
          <a:xfrm>
            <a:off x="548640" y="676656"/>
            <a:ext cx="11094415" cy="777240"/>
          </a:xfrm>
          <a:prstGeom prst="rect">
            <a:avLst/>
          </a:prstGeom>
          <a:noFill/>
          <a:ln/>
        </p:spPr>
        <p:txBody>
          <a:bodyPr wrap="square" rtlCol="0" anchor="ctr">
            <a:normAutofit/>
          </a:bodyPr>
          <a:lstStyle/>
          <a:p>
            <a:pPr indent="0" marL="0">
              <a:buNone/>
            </a:pPr>
            <a:r>
              <a:rPr lang="en-US" sz="2900" b="1" dirty="0">
                <a:solidFill>
                  <a:srgbClr val="1F3864"/>
                </a:solidFill>
                <a:latin typeface="Cambria" pitchFamily="34" charset="0"/>
                <a:ea typeface="Cambria" pitchFamily="34" charset="-122"/>
                <a:cs typeface="Cambria" pitchFamily="34" charset="-120"/>
              </a:rPr>
              <a:t>Kế hoạch bằng chứng — trước Tutorial 2</a:t>
            </a:r>
            <a:endParaRPr lang="en-US" sz="2900" dirty="0"/>
          </a:p>
        </p:txBody>
      </p:sp>
      <p:sp>
        <p:nvSpPr>
          <p:cNvPr id="4" name="Text 2"/>
          <p:cNvSpPr/>
          <p:nvPr/>
        </p:nvSpPr>
        <p:spPr>
          <a:xfrm>
            <a:off x="10637215" y="6355080"/>
            <a:ext cx="1097280" cy="274320"/>
          </a:xfrm>
          <a:prstGeom prst="rect">
            <a:avLst/>
          </a:prstGeom>
          <a:noFill/>
          <a:ln/>
        </p:spPr>
        <p:txBody>
          <a:bodyPr wrap="square" rtlCol="0" anchor="ctr"/>
          <a:lstStyle/>
          <a:p>
            <a:pPr algn="r" indent="0" marL="0">
              <a:buNone/>
            </a:pPr>
            <a:r>
              <a:rPr lang="en-US" sz="1000" b="1" dirty="0">
                <a:solidFill>
                  <a:srgbClr val="1F3864"/>
                </a:solidFill>
                <a:latin typeface="Calibri" pitchFamily="34" charset="0"/>
                <a:ea typeface="Calibri" pitchFamily="34" charset="-122"/>
                <a:cs typeface="Calibri" pitchFamily="34" charset="-120"/>
              </a:rPr>
              <a:t>07</a:t>
            </a:r>
            <a:pPr algn="r" indent="0" marL="0">
              <a:buNone/>
            </a:pPr>
            <a:r>
              <a:rPr lang="en-US" sz="1000" dirty="0">
                <a:solidFill>
                  <a:srgbClr val="5B6B7F"/>
                </a:solidFill>
                <a:latin typeface="Calibri" pitchFamily="34" charset="0"/>
                <a:ea typeface="Calibri" pitchFamily="34" charset="-122"/>
                <a:cs typeface="Calibri" pitchFamily="34" charset="-120"/>
              </a:rPr>
              <a:t>  /  08</a:t>
            </a:r>
            <a:endParaRPr lang="en-US" sz="1000" dirty="0"/>
          </a:p>
        </p:txBody>
      </p:sp>
      <p:sp>
        <p:nvSpPr>
          <p:cNvPr id="5" name="Shape 3"/>
          <p:cNvSpPr/>
          <p:nvPr/>
        </p:nvSpPr>
        <p:spPr>
          <a:xfrm>
            <a:off x="548640" y="1874520"/>
            <a:ext cx="6263640" cy="868680"/>
          </a:xfrm>
          <a:prstGeom prst="roundRect">
            <a:avLst>
              <a:gd name="adj" fmla="val 7368"/>
            </a:avLst>
          </a:prstGeom>
          <a:solidFill>
            <a:srgbClr val="F3F6FB"/>
          </a:solidFill>
          <a:ln w="12700">
            <a:solidFill>
              <a:srgbClr val="E4EAF3"/>
            </a:solidFill>
            <a:prstDash val="solid"/>
          </a:ln>
        </p:spPr>
      </p:sp>
      <p:sp>
        <p:nvSpPr>
          <p:cNvPr id="6" name="Shape 4"/>
          <p:cNvSpPr/>
          <p:nvPr/>
        </p:nvSpPr>
        <p:spPr>
          <a:xfrm>
            <a:off x="749808" y="2075688"/>
            <a:ext cx="457200" cy="457200"/>
          </a:xfrm>
          <a:prstGeom prst="ellipse">
            <a:avLst/>
          </a:prstGeom>
          <a:solidFill>
            <a:srgbClr val="1F3864"/>
          </a:solidFill>
          <a:ln/>
        </p:spPr>
      </p:sp>
      <p:sp>
        <p:nvSpPr>
          <p:cNvPr id="7" name="Text 5"/>
          <p:cNvSpPr/>
          <p:nvPr/>
        </p:nvSpPr>
        <p:spPr>
          <a:xfrm>
            <a:off x="749808" y="20756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25880" y="1874520"/>
            <a:ext cx="5349240" cy="86868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Phỏng vấn ba cố vấn học tập</a:t>
            </a:r>
            <a:endParaRPr lang="en-US" sz="1400" dirty="0"/>
          </a:p>
        </p:txBody>
      </p:sp>
      <p:sp>
        <p:nvSpPr>
          <p:cNvPr id="9" name="Shape 7"/>
          <p:cNvSpPr/>
          <p:nvPr/>
        </p:nvSpPr>
        <p:spPr>
          <a:xfrm>
            <a:off x="548640" y="2926080"/>
            <a:ext cx="6263640" cy="868680"/>
          </a:xfrm>
          <a:prstGeom prst="roundRect">
            <a:avLst>
              <a:gd name="adj" fmla="val 7368"/>
            </a:avLst>
          </a:prstGeom>
          <a:solidFill>
            <a:srgbClr val="F3F6FB"/>
          </a:solidFill>
          <a:ln w="12700">
            <a:solidFill>
              <a:srgbClr val="E4EAF3"/>
            </a:solidFill>
            <a:prstDash val="solid"/>
          </a:ln>
        </p:spPr>
      </p:sp>
      <p:sp>
        <p:nvSpPr>
          <p:cNvPr id="10" name="Shape 8"/>
          <p:cNvSpPr/>
          <p:nvPr/>
        </p:nvSpPr>
        <p:spPr>
          <a:xfrm>
            <a:off x="749808" y="3127248"/>
            <a:ext cx="457200" cy="457200"/>
          </a:xfrm>
          <a:prstGeom prst="ellipse">
            <a:avLst/>
          </a:prstGeom>
          <a:solidFill>
            <a:srgbClr val="1F3864"/>
          </a:solidFill>
          <a:ln/>
        </p:spPr>
      </p:sp>
      <p:sp>
        <p:nvSpPr>
          <p:cNvPr id="11" name="Text 9"/>
          <p:cNvSpPr/>
          <p:nvPr/>
        </p:nvSpPr>
        <p:spPr>
          <a:xfrm>
            <a:off x="749808" y="31272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325880" y="2926080"/>
            <a:ext cx="5349240" cy="86868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Xác nhận những chỉ số nào có sẵn ngay trong kỳ</a:t>
            </a:r>
            <a:endParaRPr lang="en-US" sz="1400" dirty="0"/>
          </a:p>
        </p:txBody>
      </p:sp>
      <p:sp>
        <p:nvSpPr>
          <p:cNvPr id="13" name="Shape 11"/>
          <p:cNvSpPr/>
          <p:nvPr/>
        </p:nvSpPr>
        <p:spPr>
          <a:xfrm>
            <a:off x="548640" y="3977640"/>
            <a:ext cx="6263640" cy="868680"/>
          </a:xfrm>
          <a:prstGeom prst="roundRect">
            <a:avLst>
              <a:gd name="adj" fmla="val 7368"/>
            </a:avLst>
          </a:prstGeom>
          <a:solidFill>
            <a:srgbClr val="F3F6FB"/>
          </a:solidFill>
          <a:ln w="12700">
            <a:solidFill>
              <a:srgbClr val="E4EAF3"/>
            </a:solidFill>
            <a:prstDash val="solid"/>
          </a:ln>
        </p:spPr>
      </p:sp>
      <p:sp>
        <p:nvSpPr>
          <p:cNvPr id="14" name="Shape 12"/>
          <p:cNvSpPr/>
          <p:nvPr/>
        </p:nvSpPr>
        <p:spPr>
          <a:xfrm>
            <a:off x="749808" y="4178808"/>
            <a:ext cx="457200" cy="457200"/>
          </a:xfrm>
          <a:prstGeom prst="ellipse">
            <a:avLst/>
          </a:prstGeom>
          <a:solidFill>
            <a:srgbClr val="1F3864"/>
          </a:solidFill>
          <a:ln/>
        </p:spPr>
      </p:sp>
      <p:sp>
        <p:nvSpPr>
          <p:cNvPr id="15" name="Text 13"/>
          <p:cNvSpPr/>
          <p:nvPr/>
        </p:nvSpPr>
        <p:spPr>
          <a:xfrm>
            <a:off x="749808" y="41788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325880" y="3977640"/>
            <a:ext cx="5349240" cy="86868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Đo thời gian phát hiện và số ca bị bỏ sót (nhóm mẫu)</a:t>
            </a:r>
            <a:endParaRPr lang="en-US" sz="1400" dirty="0"/>
          </a:p>
        </p:txBody>
      </p:sp>
      <p:sp>
        <p:nvSpPr>
          <p:cNvPr id="17" name="Shape 15"/>
          <p:cNvSpPr/>
          <p:nvPr/>
        </p:nvSpPr>
        <p:spPr>
          <a:xfrm>
            <a:off x="7178040" y="1874520"/>
            <a:ext cx="4462272" cy="3703320"/>
          </a:xfrm>
          <a:prstGeom prst="roundRect">
            <a:avLst>
              <a:gd name="adj" fmla="val 2222"/>
            </a:avLst>
          </a:prstGeom>
          <a:solidFill>
            <a:srgbClr val="FBEFD8"/>
          </a:solidFill>
          <a:ln/>
          <a:effectLst>
            <a:outerShdw sx="100000" sy="100000" kx="0" ky="0" algn="bl" rotWithShape="0" blurRad="101600" dist="25400" dir="5400000">
              <a:srgbClr val="D9C08A">
                <a:alpha val="30000"/>
              </a:srgbClr>
            </a:outerShdw>
          </a:effectLst>
        </p:spPr>
      </p:sp>
      <p:sp>
        <p:nvSpPr>
          <p:cNvPr id="18" name="Text 16"/>
          <p:cNvSpPr/>
          <p:nvPr/>
        </p:nvSpPr>
        <p:spPr>
          <a:xfrm>
            <a:off x="7452360" y="2194560"/>
            <a:ext cx="3931920" cy="457200"/>
          </a:xfrm>
          <a:prstGeom prst="rect">
            <a:avLst/>
          </a:prstGeom>
          <a:noFill/>
          <a:ln/>
        </p:spPr>
        <p:txBody>
          <a:bodyPr wrap="square" rtlCol="0" anchor="ctr"/>
          <a:lstStyle/>
          <a:p>
            <a:pPr indent="0" marL="0">
              <a:buNone/>
            </a:pPr>
            <a:r>
              <a:rPr lang="en-US" sz="1300" b="1" spc="100" kern="0" dirty="0">
                <a:solidFill>
                  <a:srgbClr val="8A5A00"/>
                </a:solidFill>
                <a:latin typeface="Calibri" pitchFamily="34" charset="0"/>
                <a:ea typeface="Calibri" pitchFamily="34" charset="-122"/>
                <a:cs typeface="Calibri" pitchFamily="34" charset="-120"/>
              </a:rPr>
              <a:t>GIẢ ĐỊNH CẦN KIỂM CHỨNG TRƯỚC</a:t>
            </a:r>
            <a:endParaRPr lang="en-US" sz="1300" dirty="0"/>
          </a:p>
        </p:txBody>
      </p:sp>
      <p:sp>
        <p:nvSpPr>
          <p:cNvPr id="19" name="Text 17"/>
          <p:cNvSpPr/>
          <p:nvPr/>
        </p:nvSpPr>
        <p:spPr>
          <a:xfrm>
            <a:off x="7452360" y="2834640"/>
            <a:ext cx="3931920" cy="2468880"/>
          </a:xfrm>
          <a:prstGeom prst="rect">
            <a:avLst/>
          </a:prstGeom>
          <a:noFill/>
          <a:ln/>
        </p:spPr>
        <p:txBody>
          <a:bodyPr wrap="square" rtlCol="0" anchor="t">
            <a:normAutofit/>
          </a:bodyPr>
          <a:lstStyle/>
          <a:p>
            <a:pPr indent="0" marL="0">
              <a:lnSpc>
                <a:spcPct val="110000"/>
              </a:lnSpc>
              <a:buNone/>
            </a:pPr>
            <a:r>
              <a:rPr lang="en-US" sz="1800" dirty="0">
                <a:solidFill>
                  <a:srgbClr val="5A3D00"/>
                </a:solidFill>
                <a:latin typeface="Cambria" pitchFamily="34" charset="0"/>
                <a:ea typeface="Cambria" pitchFamily="34" charset="-122"/>
                <a:cs typeface="Cambria" pitchFamily="34" charset="-120"/>
              </a:rPr>
              <a:t>Điểm, chuyên cần và dữ liệu LMS có thể truy cập ngay trong kỳ — chứ không chỉ vào cuối kỳ?</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33F"/>
        </a:solidFill>
      </p:bgPr>
    </p:bg>
    <p:spTree>
      <p:nvGrpSpPr>
        <p:cNvPr id="1" name=""/>
        <p:cNvGrpSpPr/>
        <p:nvPr/>
      </p:nvGrpSpPr>
      <p:grpSpPr>
        <a:xfrm>
          <a:off x="0" y="0"/>
          <a:ext cx="0" cy="0"/>
          <a:chOff x="0" y="0"/>
          <a:chExt cx="0" cy="0"/>
        </a:xfrm>
      </p:grpSpPr>
      <p:sp>
        <p:nvSpPr>
          <p:cNvPr id="2" name="Text 0"/>
          <p:cNvSpPr/>
          <p:nvPr/>
        </p:nvSpPr>
        <p:spPr>
          <a:xfrm>
            <a:off x="548640" y="822960"/>
            <a:ext cx="6309360" cy="731520"/>
          </a:xfrm>
          <a:prstGeom prst="rect">
            <a:avLst/>
          </a:prstGeom>
          <a:noFill/>
          <a:ln/>
        </p:spPr>
        <p:txBody>
          <a:bodyPr wrap="square" rtlCol="0" anchor="ctr">
            <a:normAutofit/>
          </a:bodyPr>
          <a:lstStyle/>
          <a:p>
            <a:pPr indent="0" marL="0">
              <a:buNone/>
            </a:pPr>
            <a:r>
              <a:rPr lang="en-US" sz="2700" b="1" dirty="0">
                <a:solidFill>
                  <a:srgbClr val="FFFFFF"/>
                </a:solidFill>
                <a:latin typeface="Cambria" pitchFamily="34" charset="0"/>
                <a:ea typeface="Cambria" pitchFamily="34" charset="-122"/>
                <a:cs typeface="Cambria" pitchFamily="34" charset="-120"/>
              </a:rPr>
              <a:t>Nhóm và phân vai</a:t>
            </a:r>
            <a:endParaRPr lang="en-US" sz="2700" dirty="0"/>
          </a:p>
        </p:txBody>
      </p:sp>
      <p:sp>
        <p:nvSpPr>
          <p:cNvPr id="3" name="Shape 1"/>
          <p:cNvSpPr/>
          <p:nvPr/>
        </p:nvSpPr>
        <p:spPr>
          <a:xfrm>
            <a:off x="548640" y="1783080"/>
            <a:ext cx="457200" cy="457200"/>
          </a:xfrm>
          <a:prstGeom prst="ellipse">
            <a:avLst/>
          </a:prstGeom>
          <a:solidFill>
            <a:srgbClr val="2E4C7E"/>
          </a:solidFill>
          <a:ln/>
        </p:spPr>
      </p:sp>
      <p:sp>
        <p:nvSpPr>
          <p:cNvPr id="4" name="Text 2"/>
          <p:cNvSpPr/>
          <p:nvPr/>
        </p:nvSpPr>
        <p:spPr>
          <a:xfrm>
            <a:off x="548640" y="1783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188720" y="1783080"/>
            <a:ext cx="5760720" cy="548640"/>
          </a:xfrm>
          <a:prstGeom prst="rect">
            <a:avLst/>
          </a:prstGeom>
          <a:noFill/>
          <a:ln/>
        </p:spPr>
        <p:txBody>
          <a:bodyPr wrap="square" rtlCol="0" anchor="ctr">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Điều phối dự án — [TV1] / [TV2]</a:t>
            </a:r>
            <a:endParaRPr lang="en-US" sz="1350" dirty="0"/>
          </a:p>
        </p:txBody>
      </p:sp>
      <p:sp>
        <p:nvSpPr>
          <p:cNvPr id="6" name="Shape 4"/>
          <p:cNvSpPr/>
          <p:nvPr/>
        </p:nvSpPr>
        <p:spPr>
          <a:xfrm>
            <a:off x="548640" y="2532888"/>
            <a:ext cx="457200" cy="457200"/>
          </a:xfrm>
          <a:prstGeom prst="ellipse">
            <a:avLst/>
          </a:prstGeom>
          <a:solidFill>
            <a:srgbClr val="2E4C7E"/>
          </a:solidFill>
          <a:ln/>
        </p:spPr>
      </p:sp>
      <p:sp>
        <p:nvSpPr>
          <p:cNvPr id="7" name="Text 5"/>
          <p:cNvSpPr/>
          <p:nvPr/>
        </p:nvSpPr>
        <p:spPr>
          <a:xfrm>
            <a:off x="548640" y="2532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 name="Text 6"/>
          <p:cNvSpPr/>
          <p:nvPr/>
        </p:nvSpPr>
        <p:spPr>
          <a:xfrm>
            <a:off x="1188720" y="2532888"/>
            <a:ext cx="5760720" cy="548640"/>
          </a:xfrm>
          <a:prstGeom prst="rect">
            <a:avLst/>
          </a:prstGeom>
          <a:noFill/>
          <a:ln/>
        </p:spPr>
        <p:txBody>
          <a:bodyPr wrap="square" rtlCol="0" anchor="ctr">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Yêu cầu / người dùng — [TV2] / [TV3]</a:t>
            </a:r>
            <a:endParaRPr lang="en-US" sz="1350" dirty="0"/>
          </a:p>
        </p:txBody>
      </p:sp>
      <p:sp>
        <p:nvSpPr>
          <p:cNvPr id="9" name="Shape 7"/>
          <p:cNvSpPr/>
          <p:nvPr/>
        </p:nvSpPr>
        <p:spPr>
          <a:xfrm>
            <a:off x="548640" y="3282696"/>
            <a:ext cx="457200" cy="457200"/>
          </a:xfrm>
          <a:prstGeom prst="ellipse">
            <a:avLst/>
          </a:prstGeom>
          <a:solidFill>
            <a:srgbClr val="2E4C7E"/>
          </a:solidFill>
          <a:ln/>
        </p:spPr>
      </p:sp>
      <p:sp>
        <p:nvSpPr>
          <p:cNvPr id="10" name="Text 8"/>
          <p:cNvSpPr/>
          <p:nvPr/>
        </p:nvSpPr>
        <p:spPr>
          <a:xfrm>
            <a:off x="548640" y="32826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1" name="Text 9"/>
          <p:cNvSpPr/>
          <p:nvPr/>
        </p:nvSpPr>
        <p:spPr>
          <a:xfrm>
            <a:off x="1188720" y="3282696"/>
            <a:ext cx="5760720" cy="548640"/>
          </a:xfrm>
          <a:prstGeom prst="rect">
            <a:avLst/>
          </a:prstGeom>
          <a:noFill/>
          <a:ln/>
        </p:spPr>
        <p:txBody>
          <a:bodyPr wrap="square" rtlCol="0" anchor="ctr">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Thiết kế / dữ liệu — [TV3] / [TV1]</a:t>
            </a:r>
            <a:endParaRPr lang="en-US" sz="1350" dirty="0"/>
          </a:p>
        </p:txBody>
      </p:sp>
      <p:sp>
        <p:nvSpPr>
          <p:cNvPr id="12" name="Shape 10"/>
          <p:cNvSpPr/>
          <p:nvPr/>
        </p:nvSpPr>
        <p:spPr>
          <a:xfrm>
            <a:off x="548640" y="4032504"/>
            <a:ext cx="457200" cy="457200"/>
          </a:xfrm>
          <a:prstGeom prst="ellipse">
            <a:avLst/>
          </a:prstGeom>
          <a:solidFill>
            <a:srgbClr val="2E4C7E"/>
          </a:solidFill>
          <a:ln/>
        </p:spPr>
      </p:sp>
      <p:sp>
        <p:nvSpPr>
          <p:cNvPr id="13" name="Text 11"/>
          <p:cNvSpPr/>
          <p:nvPr/>
        </p:nvSpPr>
        <p:spPr>
          <a:xfrm>
            <a:off x="548640" y="40325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4" name="Text 12"/>
          <p:cNvSpPr/>
          <p:nvPr/>
        </p:nvSpPr>
        <p:spPr>
          <a:xfrm>
            <a:off x="1188720" y="4032504"/>
            <a:ext cx="5760720" cy="548640"/>
          </a:xfrm>
          <a:prstGeom prst="rect">
            <a:avLst/>
          </a:prstGeom>
          <a:noFill/>
          <a:ln/>
        </p:spPr>
        <p:txBody>
          <a:bodyPr wrap="square" rtlCol="0" anchor="ctr">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Lập trình — [TV1] / [TV4]</a:t>
            </a:r>
            <a:endParaRPr lang="en-US" sz="1350" dirty="0"/>
          </a:p>
        </p:txBody>
      </p:sp>
      <p:sp>
        <p:nvSpPr>
          <p:cNvPr id="15" name="Shape 13"/>
          <p:cNvSpPr/>
          <p:nvPr/>
        </p:nvSpPr>
        <p:spPr>
          <a:xfrm>
            <a:off x="548640" y="4782312"/>
            <a:ext cx="457200" cy="457200"/>
          </a:xfrm>
          <a:prstGeom prst="ellipse">
            <a:avLst/>
          </a:prstGeom>
          <a:solidFill>
            <a:srgbClr val="2E4C7E"/>
          </a:solidFill>
          <a:ln/>
        </p:spPr>
      </p:sp>
      <p:sp>
        <p:nvSpPr>
          <p:cNvPr id="16" name="Text 14"/>
          <p:cNvSpPr/>
          <p:nvPr/>
        </p:nvSpPr>
        <p:spPr>
          <a:xfrm>
            <a:off x="548640" y="47823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1188720" y="4782312"/>
            <a:ext cx="5760720" cy="548640"/>
          </a:xfrm>
          <a:prstGeom prst="rect">
            <a:avLst/>
          </a:prstGeom>
          <a:noFill/>
          <a:ln/>
        </p:spPr>
        <p:txBody>
          <a:bodyPr wrap="square" rtlCol="0" anchor="ctr">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Kiểm thử / tài liệu — [TV4] / [TV3]</a:t>
            </a:r>
            <a:endParaRPr lang="en-US" sz="1350" dirty="0"/>
          </a:p>
        </p:txBody>
      </p:sp>
      <p:sp>
        <p:nvSpPr>
          <p:cNvPr id="18" name="Text 16"/>
          <p:cNvSpPr/>
          <p:nvPr/>
        </p:nvSpPr>
        <p:spPr>
          <a:xfrm>
            <a:off x="548640" y="6035040"/>
            <a:ext cx="6400800" cy="365760"/>
          </a:xfrm>
          <a:prstGeom prst="rect">
            <a:avLst/>
          </a:prstGeom>
          <a:noFill/>
          <a:ln/>
        </p:spPr>
        <p:txBody>
          <a:bodyPr wrap="square" rtlCol="0" anchor="ctr"/>
          <a:lstStyle/>
          <a:p>
            <a:pPr indent="0" marL="0">
              <a:buNone/>
            </a:pPr>
            <a:r>
              <a:rPr lang="en-US" sz="1150" i="1" dirty="0">
                <a:solidFill>
                  <a:srgbClr val="CFE0F5"/>
                </a:solidFill>
                <a:latin typeface="Calibri" pitchFamily="34" charset="0"/>
                <a:ea typeface="Calibri" pitchFamily="34" charset="-122"/>
                <a:cs typeface="Calibri" pitchFamily="34" charset="-120"/>
              </a:rPr>
              <a:t>Mỗi vai trò có người phụ trách, người dự phòng và liên kết bằng chứng.</a:t>
            </a:r>
            <a:endParaRPr lang="en-US" sz="1150" dirty="0"/>
          </a:p>
        </p:txBody>
      </p:sp>
      <p:sp>
        <p:nvSpPr>
          <p:cNvPr id="19" name="Shape 17"/>
          <p:cNvSpPr/>
          <p:nvPr/>
        </p:nvSpPr>
        <p:spPr>
          <a:xfrm>
            <a:off x="7315200" y="2194560"/>
            <a:ext cx="4325112" cy="2468880"/>
          </a:xfrm>
          <a:prstGeom prst="roundRect">
            <a:avLst>
              <a:gd name="adj" fmla="val 3704"/>
            </a:avLst>
          </a:prstGeom>
          <a:solidFill>
            <a:srgbClr val="1F3864"/>
          </a:solidFill>
          <a:ln/>
        </p:spPr>
      </p:sp>
      <p:sp>
        <p:nvSpPr>
          <p:cNvPr id="20" name="Text 18"/>
          <p:cNvSpPr/>
          <p:nvPr/>
        </p:nvSpPr>
        <p:spPr>
          <a:xfrm>
            <a:off x="7315200" y="2606040"/>
            <a:ext cx="4325112" cy="100584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Cảm ơn</a:t>
            </a:r>
            <a:endParaRPr lang="en-US" sz="3800" dirty="0"/>
          </a:p>
        </p:txBody>
      </p:sp>
      <p:sp>
        <p:nvSpPr>
          <p:cNvPr id="21" name="Text 19"/>
          <p:cNvSpPr/>
          <p:nvPr/>
        </p:nvSpPr>
        <p:spPr>
          <a:xfrm>
            <a:off x="7315200" y="3611880"/>
            <a:ext cx="4325112" cy="548640"/>
          </a:xfrm>
          <a:prstGeom prst="rect">
            <a:avLst/>
          </a:prstGeom>
          <a:noFill/>
          <a:ln/>
        </p:spPr>
        <p:txBody>
          <a:bodyPr wrap="square" rtlCol="0" anchor="ctr"/>
          <a:lstStyle/>
          <a:p>
            <a:pPr algn="ctr" indent="0" marL="0">
              <a:buNone/>
            </a:pPr>
            <a:r>
              <a:rPr lang="en-US" sz="1600" dirty="0">
                <a:solidFill>
                  <a:srgbClr val="CFE0F5"/>
                </a:solidFill>
                <a:latin typeface="Calibri" pitchFamily="34" charset="0"/>
                <a:ea typeface="Calibri" pitchFamily="34" charset="-122"/>
                <a:cs typeface="Calibri" pitchFamily="34" charset="-120"/>
              </a:rPr>
              <a:t>Rất mong nhận câu hỏi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2026-07-09T02:03:01Z</dcterms:created>
  <dcterms:modified xsi:type="dcterms:W3CDTF">2026-07-09T02:03:01Z</dcterms:modified>
</cp:coreProperties>
</file>